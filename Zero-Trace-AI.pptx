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BM Plex Sans" panose="020F0502020204030204" pitchFamily="34" charset="0"/>
      <p:regular r:id="rId13"/>
    </p:embeddedFont>
    <p:embeddedFont>
      <p:font typeface="Outfit Medium"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38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7141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F6FF3"/>
                </a:solidFill>
                <a:latin typeface="Outfit Medium" pitchFamily="34" charset="0"/>
                <a:ea typeface="Outfit Medium" pitchFamily="34" charset="-122"/>
                <a:cs typeface="Outfit Medium" pitchFamily="34" charset="-120"/>
              </a:rPr>
              <a:t>ZeroTrace AI</a:t>
            </a:r>
            <a:endParaRPr lang="en-US" sz="4450" dirty="0"/>
          </a:p>
        </p:txBody>
      </p:sp>
      <p:sp>
        <p:nvSpPr>
          <p:cNvPr id="4" name="Text 1"/>
          <p:cNvSpPr/>
          <p:nvPr/>
        </p:nvSpPr>
        <p:spPr>
          <a:xfrm>
            <a:off x="793790" y="2820353"/>
            <a:ext cx="7556421" cy="2934653"/>
          </a:xfrm>
          <a:prstGeom prst="rect">
            <a:avLst/>
          </a:prstGeom>
          <a:noFill/>
          <a:ln/>
        </p:spPr>
        <p:txBody>
          <a:bodyPr wrap="square" lIns="0" tIns="0" rIns="0" bIns="0" rtlCol="0" anchor="t"/>
          <a:lstStyle/>
          <a:p>
            <a:pPr marL="0" indent="0" algn="l">
              <a:lnSpc>
                <a:spcPts val="7700"/>
              </a:lnSpc>
              <a:buNone/>
            </a:pPr>
            <a:r>
              <a:rPr lang="en-US" sz="6150" dirty="0">
                <a:solidFill>
                  <a:srgbClr val="3F6FF3"/>
                </a:solidFill>
                <a:latin typeface="Outfit Medium" pitchFamily="34" charset="0"/>
                <a:ea typeface="Outfit Medium" pitchFamily="34" charset="-122"/>
                <a:cs typeface="Outfit Medium" pitchFamily="34" charset="-120"/>
              </a:rPr>
              <a:t>AI-Powered Real-Time Zero-Day Threat Detection</a:t>
            </a:r>
            <a:endParaRPr lang="en-US" sz="6150" dirty="0"/>
          </a:p>
        </p:txBody>
      </p:sp>
      <p:sp>
        <p:nvSpPr>
          <p:cNvPr id="5" name="Text 2"/>
          <p:cNvSpPr/>
          <p:nvPr/>
        </p:nvSpPr>
        <p:spPr>
          <a:xfrm>
            <a:off x="793790" y="6095167"/>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Hack &amp; Break – Generative AI &amp; Cybersecurity Innovation Challenge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42236" y="665559"/>
            <a:ext cx="5668328" cy="662821"/>
          </a:xfrm>
          <a:prstGeom prst="rect">
            <a:avLst/>
          </a:prstGeom>
          <a:noFill/>
          <a:ln/>
        </p:spPr>
        <p:txBody>
          <a:bodyPr wrap="none" lIns="0" tIns="0" rIns="0" bIns="0" rtlCol="0" anchor="t"/>
          <a:lstStyle/>
          <a:p>
            <a:pPr marL="0" indent="0" algn="l">
              <a:lnSpc>
                <a:spcPts val="5200"/>
              </a:lnSpc>
              <a:buNone/>
            </a:pPr>
            <a:r>
              <a:rPr lang="en-US" sz="4150" dirty="0">
                <a:solidFill>
                  <a:srgbClr val="3F6FF3"/>
                </a:solidFill>
                <a:latin typeface="Outfit Medium" pitchFamily="34" charset="0"/>
                <a:ea typeface="Outfit Medium" pitchFamily="34" charset="-122"/>
                <a:cs typeface="Outfit Medium" pitchFamily="34" charset="-120"/>
              </a:rPr>
              <a:t>The Cybersecurity Crisis</a:t>
            </a:r>
            <a:endParaRPr lang="en-US" sz="4150" dirty="0"/>
          </a:p>
        </p:txBody>
      </p:sp>
      <p:sp>
        <p:nvSpPr>
          <p:cNvPr id="3" name="Text 1"/>
          <p:cNvSpPr/>
          <p:nvPr/>
        </p:nvSpPr>
        <p:spPr>
          <a:xfrm>
            <a:off x="742236" y="1724978"/>
            <a:ext cx="13145929" cy="656511"/>
          </a:xfrm>
          <a:prstGeom prst="rect">
            <a:avLst/>
          </a:prstGeom>
          <a:noFill/>
          <a:ln/>
        </p:spPr>
        <p:txBody>
          <a:bodyPr wrap="square" lIns="0" tIns="0" rIns="0" bIns="0" rtlCol="0" anchor="t"/>
          <a:lstStyle/>
          <a:p>
            <a:pPr marL="0" indent="0" algn="l">
              <a:lnSpc>
                <a:spcPts val="2550"/>
              </a:lnSpc>
              <a:buNone/>
            </a:pPr>
            <a:r>
              <a:rPr lang="en-US" sz="1650" dirty="0">
                <a:solidFill>
                  <a:srgbClr val="666666"/>
                </a:solidFill>
                <a:latin typeface="IBM Plex Sans" pitchFamily="34" charset="0"/>
                <a:ea typeface="IBM Plex Sans" pitchFamily="34" charset="-122"/>
                <a:cs typeface="IBM Plex Sans" pitchFamily="34" charset="-120"/>
              </a:rPr>
              <a:t>Traditional security tools are failing to protect against modern threats. Zero-day attacks exploit unknown vulnerabilities, causing billions in damages before defenses can respond.</a:t>
            </a:r>
            <a:endParaRPr lang="en-US" sz="1650" dirty="0"/>
          </a:p>
        </p:txBody>
      </p:sp>
      <p:sp>
        <p:nvSpPr>
          <p:cNvPr id="4" name="Shape 2"/>
          <p:cNvSpPr/>
          <p:nvPr/>
        </p:nvSpPr>
        <p:spPr>
          <a:xfrm>
            <a:off x="742236" y="2604492"/>
            <a:ext cx="6473785" cy="2380655"/>
          </a:xfrm>
          <a:prstGeom prst="roundRect">
            <a:avLst>
              <a:gd name="adj" fmla="val 8018"/>
            </a:avLst>
          </a:prstGeom>
          <a:solidFill>
            <a:srgbClr val="CFDBFC"/>
          </a:solidFill>
          <a:ln w="7620">
            <a:solidFill>
              <a:srgbClr val="B5C1E2"/>
            </a:solidFill>
            <a:prstDash val="solid"/>
          </a:ln>
          <a:effectLst>
            <a:outerShdw dist="19050" dir="2700000" algn="bl" rotWithShape="0">
              <a:srgbClr val="B5C1E2">
                <a:alpha val="100000"/>
              </a:srgbClr>
            </a:outerShdw>
          </a:effectLst>
        </p:spPr>
      </p:sp>
      <p:sp>
        <p:nvSpPr>
          <p:cNvPr id="5" name="Shape 3"/>
          <p:cNvSpPr/>
          <p:nvPr/>
        </p:nvSpPr>
        <p:spPr>
          <a:xfrm>
            <a:off x="961906" y="2824163"/>
            <a:ext cx="636270" cy="636270"/>
          </a:xfrm>
          <a:prstGeom prst="roundRect">
            <a:avLst>
              <a:gd name="adj" fmla="val 14369820"/>
            </a:avLst>
          </a:prstGeom>
          <a:solidFill>
            <a:srgbClr val="A2B9F9"/>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6928" y="2999184"/>
            <a:ext cx="286226" cy="286226"/>
          </a:xfrm>
          <a:prstGeom prst="rect">
            <a:avLst/>
          </a:prstGeom>
        </p:spPr>
      </p:pic>
      <p:sp>
        <p:nvSpPr>
          <p:cNvPr id="7" name="Text 4"/>
          <p:cNvSpPr/>
          <p:nvPr/>
        </p:nvSpPr>
        <p:spPr>
          <a:xfrm>
            <a:off x="961906" y="3658672"/>
            <a:ext cx="2857381" cy="331351"/>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Outfit Medium" pitchFamily="34" charset="0"/>
                <a:ea typeface="Outfit Medium" pitchFamily="34" charset="-122"/>
                <a:cs typeface="Outfit Medium" pitchFamily="34" charset="-120"/>
              </a:rPr>
              <a:t>Signature-Based Failure</a:t>
            </a:r>
            <a:endParaRPr lang="en-US" sz="2050" dirty="0"/>
          </a:p>
        </p:txBody>
      </p:sp>
      <p:sp>
        <p:nvSpPr>
          <p:cNvPr id="8" name="Text 5"/>
          <p:cNvSpPr/>
          <p:nvPr/>
        </p:nvSpPr>
        <p:spPr>
          <a:xfrm>
            <a:off x="961906" y="4108966"/>
            <a:ext cx="6034445" cy="656511"/>
          </a:xfrm>
          <a:prstGeom prst="rect">
            <a:avLst/>
          </a:prstGeom>
          <a:noFill/>
          <a:ln/>
        </p:spPr>
        <p:txBody>
          <a:bodyPr wrap="square" lIns="0" tIns="0" rIns="0" bIns="0" rtlCol="0" anchor="t"/>
          <a:lstStyle/>
          <a:p>
            <a:pPr marL="0" indent="0" algn="l">
              <a:lnSpc>
                <a:spcPts val="2550"/>
              </a:lnSpc>
              <a:buNone/>
            </a:pPr>
            <a:r>
              <a:rPr lang="en-US" sz="1650" dirty="0">
                <a:solidFill>
                  <a:srgbClr val="000000"/>
                </a:solidFill>
                <a:latin typeface="IBM Plex Sans" pitchFamily="34" charset="0"/>
                <a:ea typeface="IBM Plex Sans" pitchFamily="34" charset="-122"/>
                <a:cs typeface="IBM Plex Sans" pitchFamily="34" charset="-120"/>
              </a:rPr>
              <a:t>Traditional tools cannot detect unknown threats without pre-existing malware signatures</a:t>
            </a:r>
            <a:endParaRPr lang="en-US" sz="1650" dirty="0"/>
          </a:p>
        </p:txBody>
      </p:sp>
      <p:sp>
        <p:nvSpPr>
          <p:cNvPr id="9" name="Shape 6"/>
          <p:cNvSpPr/>
          <p:nvPr/>
        </p:nvSpPr>
        <p:spPr>
          <a:xfrm>
            <a:off x="7414260" y="2604492"/>
            <a:ext cx="6473904" cy="2380655"/>
          </a:xfrm>
          <a:prstGeom prst="roundRect">
            <a:avLst>
              <a:gd name="adj" fmla="val 8018"/>
            </a:avLst>
          </a:prstGeom>
          <a:solidFill>
            <a:srgbClr val="CFDBFC"/>
          </a:solidFill>
          <a:ln w="7620">
            <a:solidFill>
              <a:srgbClr val="B5C1E2"/>
            </a:solidFill>
            <a:prstDash val="solid"/>
          </a:ln>
          <a:effectLst>
            <a:outerShdw dist="19050" dir="2700000" algn="bl" rotWithShape="0">
              <a:srgbClr val="B5C1E2">
                <a:alpha val="100000"/>
              </a:srgbClr>
            </a:outerShdw>
          </a:effectLst>
        </p:spPr>
      </p:sp>
      <p:sp>
        <p:nvSpPr>
          <p:cNvPr id="10" name="Shape 7"/>
          <p:cNvSpPr/>
          <p:nvPr/>
        </p:nvSpPr>
        <p:spPr>
          <a:xfrm>
            <a:off x="7633930" y="2824163"/>
            <a:ext cx="636270" cy="636270"/>
          </a:xfrm>
          <a:prstGeom prst="roundRect">
            <a:avLst>
              <a:gd name="adj" fmla="val 14369820"/>
            </a:avLst>
          </a:prstGeom>
          <a:solidFill>
            <a:srgbClr val="A2B9F9"/>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8952" y="2999184"/>
            <a:ext cx="286226" cy="286226"/>
          </a:xfrm>
          <a:prstGeom prst="rect">
            <a:avLst/>
          </a:prstGeom>
        </p:spPr>
      </p:pic>
      <p:sp>
        <p:nvSpPr>
          <p:cNvPr id="12" name="Text 8"/>
          <p:cNvSpPr/>
          <p:nvPr/>
        </p:nvSpPr>
        <p:spPr>
          <a:xfrm>
            <a:off x="7633930" y="3658672"/>
            <a:ext cx="2651165" cy="331351"/>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Outfit Medium" pitchFamily="34" charset="0"/>
                <a:ea typeface="Outfit Medium" pitchFamily="34" charset="-122"/>
                <a:cs typeface="Outfit Medium" pitchFamily="34" charset="-120"/>
              </a:rPr>
              <a:t>Zero-Day Explosion</a:t>
            </a:r>
            <a:endParaRPr lang="en-US" sz="2050" dirty="0"/>
          </a:p>
        </p:txBody>
      </p:sp>
      <p:sp>
        <p:nvSpPr>
          <p:cNvPr id="13" name="Text 9"/>
          <p:cNvSpPr/>
          <p:nvPr/>
        </p:nvSpPr>
        <p:spPr>
          <a:xfrm>
            <a:off x="7633930" y="4108966"/>
            <a:ext cx="6034564" cy="656511"/>
          </a:xfrm>
          <a:prstGeom prst="rect">
            <a:avLst/>
          </a:prstGeom>
          <a:noFill/>
          <a:ln/>
        </p:spPr>
        <p:txBody>
          <a:bodyPr wrap="square" lIns="0" tIns="0" rIns="0" bIns="0" rtlCol="0" anchor="t"/>
          <a:lstStyle/>
          <a:p>
            <a:pPr marL="0" indent="0" algn="l">
              <a:lnSpc>
                <a:spcPts val="2550"/>
              </a:lnSpc>
              <a:buNone/>
            </a:pPr>
            <a:r>
              <a:rPr lang="en-US" sz="1650" dirty="0">
                <a:solidFill>
                  <a:srgbClr val="000000"/>
                </a:solidFill>
                <a:latin typeface="IBM Plex Sans" pitchFamily="34" charset="0"/>
                <a:ea typeface="IBM Plex Sans" pitchFamily="34" charset="-122"/>
                <a:cs typeface="IBM Plex Sans" pitchFamily="34" charset="-120"/>
              </a:rPr>
              <a:t>New vulnerabilities discovered daily cause billions in damages globally before patches exist</a:t>
            </a:r>
            <a:endParaRPr lang="en-US" sz="1650" dirty="0"/>
          </a:p>
        </p:txBody>
      </p:sp>
      <p:sp>
        <p:nvSpPr>
          <p:cNvPr id="14" name="Shape 10"/>
          <p:cNvSpPr/>
          <p:nvPr/>
        </p:nvSpPr>
        <p:spPr>
          <a:xfrm>
            <a:off x="742236" y="5183386"/>
            <a:ext cx="6473785" cy="2380655"/>
          </a:xfrm>
          <a:prstGeom prst="roundRect">
            <a:avLst>
              <a:gd name="adj" fmla="val 8018"/>
            </a:avLst>
          </a:prstGeom>
          <a:solidFill>
            <a:srgbClr val="CFDBFC"/>
          </a:solidFill>
          <a:ln w="7620">
            <a:solidFill>
              <a:srgbClr val="B5C1E2"/>
            </a:solidFill>
            <a:prstDash val="solid"/>
          </a:ln>
          <a:effectLst>
            <a:outerShdw dist="19050" dir="2700000" algn="bl" rotWithShape="0">
              <a:srgbClr val="B5C1E2">
                <a:alpha val="100000"/>
              </a:srgbClr>
            </a:outerShdw>
          </a:effectLst>
        </p:spPr>
      </p:sp>
      <p:sp>
        <p:nvSpPr>
          <p:cNvPr id="15" name="Shape 11"/>
          <p:cNvSpPr/>
          <p:nvPr/>
        </p:nvSpPr>
        <p:spPr>
          <a:xfrm>
            <a:off x="961906" y="5403056"/>
            <a:ext cx="636270" cy="636270"/>
          </a:xfrm>
          <a:prstGeom prst="roundRect">
            <a:avLst>
              <a:gd name="adj" fmla="val 14369820"/>
            </a:avLst>
          </a:prstGeom>
          <a:solidFill>
            <a:srgbClr val="A2B9F9"/>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6928" y="5578078"/>
            <a:ext cx="286226" cy="286226"/>
          </a:xfrm>
          <a:prstGeom prst="rect">
            <a:avLst/>
          </a:prstGeom>
        </p:spPr>
      </p:pic>
      <p:sp>
        <p:nvSpPr>
          <p:cNvPr id="17" name="Text 12"/>
          <p:cNvSpPr/>
          <p:nvPr/>
        </p:nvSpPr>
        <p:spPr>
          <a:xfrm>
            <a:off x="961906" y="6237565"/>
            <a:ext cx="2651165" cy="331351"/>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Outfit Medium" pitchFamily="34" charset="0"/>
                <a:ea typeface="Outfit Medium" pitchFamily="34" charset="-122"/>
                <a:cs typeface="Outfit Medium" pitchFamily="34" charset="-120"/>
              </a:rPr>
              <a:t>File-less Attacks</a:t>
            </a:r>
            <a:endParaRPr lang="en-US" sz="2050" dirty="0"/>
          </a:p>
        </p:txBody>
      </p:sp>
      <p:sp>
        <p:nvSpPr>
          <p:cNvPr id="18" name="Text 13"/>
          <p:cNvSpPr/>
          <p:nvPr/>
        </p:nvSpPr>
        <p:spPr>
          <a:xfrm>
            <a:off x="961906" y="6687860"/>
            <a:ext cx="6034445" cy="656511"/>
          </a:xfrm>
          <a:prstGeom prst="rect">
            <a:avLst/>
          </a:prstGeom>
          <a:noFill/>
          <a:ln/>
        </p:spPr>
        <p:txBody>
          <a:bodyPr wrap="square" lIns="0" tIns="0" rIns="0" bIns="0" rtlCol="0" anchor="t"/>
          <a:lstStyle/>
          <a:p>
            <a:pPr marL="0" indent="0" algn="l">
              <a:lnSpc>
                <a:spcPts val="2550"/>
              </a:lnSpc>
              <a:buNone/>
            </a:pPr>
            <a:r>
              <a:rPr lang="en-US" sz="1650" dirty="0">
                <a:solidFill>
                  <a:srgbClr val="000000"/>
                </a:solidFill>
                <a:latin typeface="IBM Plex Sans" pitchFamily="34" charset="0"/>
                <a:ea typeface="IBM Plex Sans" pitchFamily="34" charset="-122"/>
                <a:cs typeface="IBM Plex Sans" pitchFamily="34" charset="-120"/>
              </a:rPr>
              <a:t>70% of modern malware operates entirely in memory, invisible to traditional file scanners</a:t>
            </a:r>
            <a:endParaRPr lang="en-US" sz="1650" dirty="0"/>
          </a:p>
        </p:txBody>
      </p:sp>
      <p:sp>
        <p:nvSpPr>
          <p:cNvPr id="19" name="Shape 14"/>
          <p:cNvSpPr/>
          <p:nvPr/>
        </p:nvSpPr>
        <p:spPr>
          <a:xfrm>
            <a:off x="7414260" y="5183386"/>
            <a:ext cx="6473904" cy="2380655"/>
          </a:xfrm>
          <a:prstGeom prst="roundRect">
            <a:avLst>
              <a:gd name="adj" fmla="val 8018"/>
            </a:avLst>
          </a:prstGeom>
          <a:solidFill>
            <a:srgbClr val="CFDBFC"/>
          </a:solidFill>
          <a:ln w="7620">
            <a:solidFill>
              <a:srgbClr val="B5C1E2"/>
            </a:solidFill>
            <a:prstDash val="solid"/>
          </a:ln>
          <a:effectLst>
            <a:outerShdw dist="19050" dir="2700000" algn="bl" rotWithShape="0">
              <a:srgbClr val="B5C1E2">
                <a:alpha val="100000"/>
              </a:srgbClr>
            </a:outerShdw>
          </a:effectLst>
        </p:spPr>
      </p:sp>
      <p:sp>
        <p:nvSpPr>
          <p:cNvPr id="20" name="Shape 15"/>
          <p:cNvSpPr/>
          <p:nvPr/>
        </p:nvSpPr>
        <p:spPr>
          <a:xfrm>
            <a:off x="7633930" y="5403056"/>
            <a:ext cx="636270" cy="636270"/>
          </a:xfrm>
          <a:prstGeom prst="roundRect">
            <a:avLst>
              <a:gd name="adj" fmla="val 14369820"/>
            </a:avLst>
          </a:prstGeom>
          <a:solidFill>
            <a:srgbClr val="A2B9F9"/>
          </a:solidFill>
          <a:ln/>
        </p:spPr>
      </p:sp>
      <p:pic>
        <p:nvPicPr>
          <p:cNvPr id="21"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08952" y="5578078"/>
            <a:ext cx="286226" cy="286226"/>
          </a:xfrm>
          <a:prstGeom prst="rect">
            <a:avLst/>
          </a:prstGeom>
        </p:spPr>
      </p:pic>
      <p:sp>
        <p:nvSpPr>
          <p:cNvPr id="22" name="Text 16"/>
          <p:cNvSpPr/>
          <p:nvPr/>
        </p:nvSpPr>
        <p:spPr>
          <a:xfrm>
            <a:off x="7633930" y="6237565"/>
            <a:ext cx="2651165" cy="331351"/>
          </a:xfrm>
          <a:prstGeom prst="rect">
            <a:avLst/>
          </a:prstGeom>
          <a:noFill/>
          <a:ln/>
        </p:spPr>
        <p:txBody>
          <a:bodyPr wrap="none" lIns="0" tIns="0" rIns="0" bIns="0" rtlCol="0" anchor="t"/>
          <a:lstStyle/>
          <a:p>
            <a:pPr marL="0" indent="0" algn="l">
              <a:lnSpc>
                <a:spcPts val="2600"/>
              </a:lnSpc>
              <a:buNone/>
            </a:pPr>
            <a:r>
              <a:rPr lang="en-US" sz="2050" dirty="0">
                <a:solidFill>
                  <a:srgbClr val="000000"/>
                </a:solidFill>
                <a:latin typeface="Outfit Medium" pitchFamily="34" charset="0"/>
                <a:ea typeface="Outfit Medium" pitchFamily="34" charset="-122"/>
                <a:cs typeface="Outfit Medium" pitchFamily="34" charset="-120"/>
              </a:rPr>
              <a:t>Reactive Response</a:t>
            </a:r>
            <a:endParaRPr lang="en-US" sz="2050" dirty="0"/>
          </a:p>
        </p:txBody>
      </p:sp>
      <p:sp>
        <p:nvSpPr>
          <p:cNvPr id="23" name="Text 17"/>
          <p:cNvSpPr/>
          <p:nvPr/>
        </p:nvSpPr>
        <p:spPr>
          <a:xfrm>
            <a:off x="7633930" y="6687860"/>
            <a:ext cx="6034564" cy="656511"/>
          </a:xfrm>
          <a:prstGeom prst="rect">
            <a:avLst/>
          </a:prstGeom>
          <a:noFill/>
          <a:ln/>
        </p:spPr>
        <p:txBody>
          <a:bodyPr wrap="square" lIns="0" tIns="0" rIns="0" bIns="0" rtlCol="0" anchor="t"/>
          <a:lstStyle/>
          <a:p>
            <a:pPr marL="0" indent="0" algn="l">
              <a:lnSpc>
                <a:spcPts val="2550"/>
              </a:lnSpc>
              <a:buNone/>
            </a:pPr>
            <a:r>
              <a:rPr lang="en-US" sz="1650" dirty="0">
                <a:solidFill>
                  <a:srgbClr val="000000"/>
                </a:solidFill>
                <a:latin typeface="IBM Plex Sans" pitchFamily="34" charset="0"/>
                <a:ea typeface="IBM Plex Sans" pitchFamily="34" charset="-122"/>
                <a:cs typeface="IBM Plex Sans" pitchFamily="34" charset="-120"/>
              </a:rPr>
              <a:t>Traditional tools alert after breaches occur instead of preventing exploitation in real-time</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919639"/>
            <a:ext cx="6222563" cy="708779"/>
          </a:xfrm>
          <a:prstGeom prst="rect">
            <a:avLst/>
          </a:prstGeom>
          <a:noFill/>
          <a:ln/>
        </p:spPr>
        <p:txBody>
          <a:bodyPr wrap="none" lIns="0" tIns="0" rIns="0" bIns="0" rtlCol="0" anchor="t"/>
          <a:lstStyle/>
          <a:p>
            <a:pPr marL="0" indent="0" algn="l">
              <a:lnSpc>
                <a:spcPts val="5550"/>
              </a:lnSpc>
              <a:buNone/>
            </a:pPr>
            <a:r>
              <a:rPr lang="en-US" sz="4450" dirty="0">
                <a:solidFill>
                  <a:srgbClr val="3F6FF3"/>
                </a:solidFill>
                <a:latin typeface="Outfit Medium" pitchFamily="34" charset="0"/>
                <a:ea typeface="Outfit Medium" pitchFamily="34" charset="-122"/>
                <a:cs typeface="Outfit Medium" pitchFamily="34" charset="-120"/>
              </a:rPr>
              <a:t>Introducing ZeroTrace AI</a:t>
            </a:r>
            <a:endParaRPr lang="en-US" sz="4450" dirty="0"/>
          </a:p>
        </p:txBody>
      </p:sp>
      <p:sp>
        <p:nvSpPr>
          <p:cNvPr id="3" name="Text 1"/>
          <p:cNvSpPr/>
          <p:nvPr/>
        </p:nvSpPr>
        <p:spPr>
          <a:xfrm>
            <a:off x="793790" y="2195393"/>
            <a:ext cx="4205168" cy="850583"/>
          </a:xfrm>
          <a:prstGeom prst="rect">
            <a:avLst/>
          </a:prstGeom>
          <a:noFill/>
          <a:ln/>
        </p:spPr>
        <p:txBody>
          <a:bodyPr wrap="square" lIns="0" tIns="0" rIns="0" bIns="0" rtlCol="0" anchor="t"/>
          <a:lstStyle/>
          <a:p>
            <a:pPr marL="0" indent="0" algn="l">
              <a:lnSpc>
                <a:spcPts val="3300"/>
              </a:lnSpc>
              <a:buNone/>
            </a:pPr>
            <a:r>
              <a:rPr lang="en-US" sz="2650" dirty="0">
                <a:solidFill>
                  <a:srgbClr val="3F6FF3"/>
                </a:solidFill>
                <a:latin typeface="Outfit Medium" pitchFamily="34" charset="0"/>
                <a:ea typeface="Outfit Medium" pitchFamily="34" charset="-122"/>
                <a:cs typeface="Outfit Medium" pitchFamily="34" charset="-120"/>
              </a:rPr>
              <a:t>Behavioral Anomaly Detection</a:t>
            </a:r>
            <a:endParaRPr lang="en-US" sz="2650" dirty="0"/>
          </a:p>
        </p:txBody>
      </p:sp>
      <p:sp>
        <p:nvSpPr>
          <p:cNvPr id="4" name="Text 2"/>
          <p:cNvSpPr/>
          <p:nvPr/>
        </p:nvSpPr>
        <p:spPr>
          <a:xfrm>
            <a:off x="793790" y="3272790"/>
            <a:ext cx="4205168" cy="2540318"/>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ZeroTrace AI revolutionizes threat detection by monitoring how systems behave rather than what files appear. Instead of searching for known malware signatures, our AI learns normal server behavior and immediately flags abnormal patterns.</a:t>
            </a:r>
            <a:endParaRPr lang="en-US" sz="1750" dirty="0"/>
          </a:p>
        </p:txBody>
      </p:sp>
      <p:sp>
        <p:nvSpPr>
          <p:cNvPr id="5" name="Text 3"/>
          <p:cNvSpPr/>
          <p:nvPr/>
        </p:nvSpPr>
        <p:spPr>
          <a:xfrm>
            <a:off x="793790" y="6017181"/>
            <a:ext cx="4205168" cy="1088708"/>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Key innovation:</a:t>
            </a:r>
            <a:r>
              <a:rPr lang="en-US" sz="1750" dirty="0">
                <a:solidFill>
                  <a:srgbClr val="666666"/>
                </a:solidFill>
                <a:latin typeface="IBM Plex Sans" pitchFamily="34" charset="0"/>
                <a:ea typeface="IBM Plex Sans" pitchFamily="34" charset="-122"/>
                <a:cs typeface="IBM Plex Sans" pitchFamily="34" charset="-120"/>
              </a:rPr>
              <a:t> Detect the exploitation of the system itself, not just the virus attempting to execute.</a:t>
            </a:r>
            <a:endParaRPr lang="en-US" sz="1750" dirty="0"/>
          </a:p>
        </p:txBody>
      </p:sp>
      <p:pic>
        <p:nvPicPr>
          <p:cNvPr id="6" name="Image 0" descr="preencoded.png"/>
          <p:cNvPicPr>
            <a:picLocks noChangeAspect="1"/>
          </p:cNvPicPr>
          <p:nvPr/>
        </p:nvPicPr>
        <p:blipFill>
          <a:blip r:embed="rId3"/>
          <a:stretch>
            <a:fillRect/>
          </a:stretch>
        </p:blipFill>
        <p:spPr>
          <a:xfrm>
            <a:off x="5559981" y="2327434"/>
            <a:ext cx="8284131" cy="46236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793790" y="1237178"/>
            <a:ext cx="6178391" cy="708779"/>
          </a:xfrm>
          <a:prstGeom prst="rect">
            <a:avLst/>
          </a:prstGeom>
          <a:noFill/>
          <a:ln/>
        </p:spPr>
        <p:txBody>
          <a:bodyPr wrap="none" lIns="0" tIns="0" rIns="0" bIns="0" rtlCol="0" anchor="t"/>
          <a:lstStyle/>
          <a:p>
            <a:pPr marL="0" indent="0" algn="l">
              <a:lnSpc>
                <a:spcPts val="5550"/>
              </a:lnSpc>
              <a:buNone/>
            </a:pPr>
            <a:r>
              <a:rPr lang="en-US" sz="4450" dirty="0">
                <a:solidFill>
                  <a:srgbClr val="3F6FF3"/>
                </a:solidFill>
                <a:latin typeface="Outfit Medium" pitchFamily="34" charset="0"/>
                <a:ea typeface="Outfit Medium" pitchFamily="34" charset="-122"/>
                <a:cs typeface="Outfit Medium" pitchFamily="34" charset="-120"/>
              </a:rPr>
              <a:t>How ZeroTrace AI Works</a:t>
            </a:r>
            <a:endParaRPr lang="en-US" sz="4450" dirty="0"/>
          </a:p>
        </p:txBody>
      </p:sp>
      <p:sp>
        <p:nvSpPr>
          <p:cNvPr id="3" name="Text 1"/>
          <p:cNvSpPr/>
          <p:nvPr/>
        </p:nvSpPr>
        <p:spPr>
          <a:xfrm>
            <a:off x="793790" y="239958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Our AI continuously monitors server behavior across multiple dimensions, learning baseline patterns and instantly detecting deviations that indicate exploitation attempts.</a:t>
            </a:r>
            <a:endParaRPr lang="en-US" sz="17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3380542"/>
            <a:ext cx="680442" cy="680442"/>
          </a:xfrm>
          <a:prstGeom prst="rect">
            <a:avLst/>
          </a:prstGeom>
        </p:spPr>
      </p:pic>
      <p:sp>
        <p:nvSpPr>
          <p:cNvPr id="5" name="Text 2"/>
          <p:cNvSpPr/>
          <p:nvPr/>
        </p:nvSpPr>
        <p:spPr>
          <a:xfrm>
            <a:off x="1757720" y="33805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System Calls</a:t>
            </a:r>
            <a:endParaRPr lang="en-US" sz="2200" dirty="0"/>
          </a:p>
        </p:txBody>
      </p:sp>
      <p:sp>
        <p:nvSpPr>
          <p:cNvPr id="6" name="Text 3"/>
          <p:cNvSpPr/>
          <p:nvPr/>
        </p:nvSpPr>
        <p:spPr>
          <a:xfrm>
            <a:off x="1757720" y="3870960"/>
            <a:ext cx="5415677" cy="1088708"/>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Monitors all kernel-level system calls and API interactions for suspicious patterns and privilege escalation attempts</a:t>
            </a:r>
            <a:endParaRPr lang="en-US" sz="17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6884" y="3380542"/>
            <a:ext cx="680442" cy="680442"/>
          </a:xfrm>
          <a:prstGeom prst="rect">
            <a:avLst/>
          </a:prstGeom>
        </p:spPr>
      </p:pic>
      <p:sp>
        <p:nvSpPr>
          <p:cNvPr id="8" name="Text 4"/>
          <p:cNvSpPr/>
          <p:nvPr/>
        </p:nvSpPr>
        <p:spPr>
          <a:xfrm>
            <a:off x="8420814" y="338054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Memory Allocation</a:t>
            </a:r>
            <a:endParaRPr lang="en-US" sz="2200" dirty="0"/>
          </a:p>
        </p:txBody>
      </p:sp>
      <p:sp>
        <p:nvSpPr>
          <p:cNvPr id="9" name="Text 5"/>
          <p:cNvSpPr/>
          <p:nvPr/>
        </p:nvSpPr>
        <p:spPr>
          <a:xfrm>
            <a:off x="8420814" y="3870960"/>
            <a:ext cx="5415796" cy="1088708"/>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Tracks memory usage patterns, heap manipulation, and unusual allocation behaviors that indicate code injection</a:t>
            </a:r>
            <a:endParaRPr lang="en-US" sz="17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5413296"/>
            <a:ext cx="680442" cy="680442"/>
          </a:xfrm>
          <a:prstGeom prst="rect">
            <a:avLst/>
          </a:prstGeom>
        </p:spPr>
      </p:pic>
      <p:sp>
        <p:nvSpPr>
          <p:cNvPr id="11" name="Text 6"/>
          <p:cNvSpPr/>
          <p:nvPr/>
        </p:nvSpPr>
        <p:spPr>
          <a:xfrm>
            <a:off x="1757720" y="54132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Network Activity</a:t>
            </a:r>
            <a:endParaRPr lang="en-US" sz="2200" dirty="0"/>
          </a:p>
        </p:txBody>
      </p:sp>
      <p:sp>
        <p:nvSpPr>
          <p:cNvPr id="12" name="Text 7"/>
          <p:cNvSpPr/>
          <p:nvPr/>
        </p:nvSpPr>
        <p:spPr>
          <a:xfrm>
            <a:off x="1757720" y="5903714"/>
            <a:ext cx="5415677" cy="1088708"/>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Analyzes connection patterns, data transfer rates, and protocol anomalies that suggest command-and-control communication</a:t>
            </a:r>
            <a:endParaRPr lang="en-US" sz="17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56884" y="5413296"/>
            <a:ext cx="680442" cy="680442"/>
          </a:xfrm>
          <a:prstGeom prst="rect">
            <a:avLst/>
          </a:prstGeom>
        </p:spPr>
      </p:pic>
      <p:sp>
        <p:nvSpPr>
          <p:cNvPr id="14" name="Text 8"/>
          <p:cNvSpPr/>
          <p:nvPr/>
        </p:nvSpPr>
        <p:spPr>
          <a:xfrm>
            <a:off x="8420814" y="541329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Process Behavior</a:t>
            </a:r>
            <a:endParaRPr lang="en-US" sz="2200" dirty="0"/>
          </a:p>
        </p:txBody>
      </p:sp>
      <p:sp>
        <p:nvSpPr>
          <p:cNvPr id="15" name="Text 9"/>
          <p:cNvSpPr/>
          <p:nvPr/>
        </p:nvSpPr>
        <p:spPr>
          <a:xfrm>
            <a:off x="8420814" y="5903714"/>
            <a:ext cx="5415796" cy="1088708"/>
          </a:xfrm>
          <a:prstGeom prst="rect">
            <a:avLst/>
          </a:prstGeom>
          <a:noFill/>
          <a:ln/>
        </p:spPr>
        <p:txBody>
          <a:bodyPr wrap="squar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Watches process creation, parent-child relationships, and execution flow for unauthorized spawning and persistence mechanisms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998577" y="719376"/>
            <a:ext cx="4577239" cy="572095"/>
          </a:xfrm>
          <a:prstGeom prst="rect">
            <a:avLst/>
          </a:prstGeom>
          <a:noFill/>
          <a:ln/>
        </p:spPr>
        <p:txBody>
          <a:bodyPr wrap="none" lIns="0" tIns="0" rIns="0" bIns="0" rtlCol="0" anchor="t"/>
          <a:lstStyle/>
          <a:p>
            <a:pPr marL="0" indent="0" algn="l">
              <a:lnSpc>
                <a:spcPts val="4500"/>
              </a:lnSpc>
              <a:buNone/>
            </a:pPr>
            <a:r>
              <a:rPr lang="en-US" sz="3600" dirty="0">
                <a:solidFill>
                  <a:srgbClr val="3F6FF3"/>
                </a:solidFill>
                <a:latin typeface="Outfit Medium" pitchFamily="34" charset="0"/>
                <a:ea typeface="Outfit Medium" pitchFamily="34" charset="-122"/>
                <a:cs typeface="Outfit Medium" pitchFamily="34" charset="-120"/>
              </a:rPr>
              <a:t>System Architecture</a:t>
            </a:r>
            <a:endParaRPr lang="en-US" sz="3600" dirty="0"/>
          </a:p>
        </p:txBody>
      </p:sp>
      <p:sp>
        <p:nvSpPr>
          <p:cNvPr id="3" name="Text 1"/>
          <p:cNvSpPr/>
          <p:nvPr/>
        </p:nvSpPr>
        <p:spPr>
          <a:xfrm>
            <a:off x="998577" y="1586984"/>
            <a:ext cx="12633127"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ZeroTrace AI connects lightweight server agents to a centralized AI engine, providing real-time threat intelligence with automated response capabilities.</a:t>
            </a:r>
            <a:endParaRPr lang="en-US" sz="1400" dirty="0"/>
          </a:p>
        </p:txBody>
      </p:sp>
      <p:pic>
        <p:nvPicPr>
          <p:cNvPr id="4" name="Image 0" descr="preencoded.png"/>
          <p:cNvPicPr>
            <a:picLocks noChangeAspect="1"/>
          </p:cNvPicPr>
          <p:nvPr/>
        </p:nvPicPr>
        <p:blipFill>
          <a:blip r:embed="rId3"/>
          <a:stretch>
            <a:fillRect/>
          </a:stretch>
        </p:blipFill>
        <p:spPr>
          <a:xfrm>
            <a:off x="998577" y="2017871"/>
            <a:ext cx="915353" cy="1098471"/>
          </a:xfrm>
          <a:prstGeom prst="rect">
            <a:avLst/>
          </a:prstGeom>
        </p:spPr>
      </p:pic>
      <p:sp>
        <p:nvSpPr>
          <p:cNvPr id="5" name="Text 2"/>
          <p:cNvSpPr/>
          <p:nvPr/>
        </p:nvSpPr>
        <p:spPr>
          <a:xfrm>
            <a:off x="2061686" y="2200870"/>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666666"/>
                </a:solidFill>
                <a:latin typeface="Outfit Medium" pitchFamily="34" charset="0"/>
                <a:ea typeface="Outfit Medium" pitchFamily="34" charset="-122"/>
                <a:cs typeface="Outfit Medium" pitchFamily="34" charset="-120"/>
              </a:rPr>
              <a:t>Server Agents</a:t>
            </a:r>
            <a:endParaRPr lang="en-US" sz="1800" dirty="0"/>
          </a:p>
        </p:txBody>
      </p:sp>
      <p:sp>
        <p:nvSpPr>
          <p:cNvPr id="6" name="Text 3"/>
          <p:cNvSpPr/>
          <p:nvPr/>
        </p:nvSpPr>
        <p:spPr>
          <a:xfrm>
            <a:off x="2061686" y="2575441"/>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Lightweight telemetry collectors deployed on protected servers</a:t>
            </a:r>
            <a:endParaRPr lang="en-US" sz="1400" dirty="0"/>
          </a:p>
        </p:txBody>
      </p:sp>
      <p:pic>
        <p:nvPicPr>
          <p:cNvPr id="7" name="Image 1" descr="preencoded.png"/>
          <p:cNvPicPr>
            <a:picLocks noChangeAspect="1"/>
          </p:cNvPicPr>
          <p:nvPr/>
        </p:nvPicPr>
        <p:blipFill>
          <a:blip r:embed="rId4"/>
          <a:stretch>
            <a:fillRect/>
          </a:stretch>
        </p:blipFill>
        <p:spPr>
          <a:xfrm>
            <a:off x="998577" y="3116342"/>
            <a:ext cx="915353" cy="1098471"/>
          </a:xfrm>
          <a:prstGeom prst="rect">
            <a:avLst/>
          </a:prstGeom>
        </p:spPr>
      </p:pic>
      <p:sp>
        <p:nvSpPr>
          <p:cNvPr id="8" name="Text 4"/>
          <p:cNvSpPr/>
          <p:nvPr/>
        </p:nvSpPr>
        <p:spPr>
          <a:xfrm>
            <a:off x="2061686" y="3299341"/>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666666"/>
                </a:solidFill>
                <a:latin typeface="Outfit Medium" pitchFamily="34" charset="0"/>
                <a:ea typeface="Outfit Medium" pitchFamily="34" charset="-122"/>
                <a:cs typeface="Outfit Medium" pitchFamily="34" charset="-120"/>
              </a:rPr>
              <a:t>FastAPI ML Engine</a:t>
            </a:r>
            <a:endParaRPr lang="en-US" sz="1800" dirty="0"/>
          </a:p>
        </p:txBody>
      </p:sp>
      <p:sp>
        <p:nvSpPr>
          <p:cNvPr id="9" name="Text 5"/>
          <p:cNvSpPr/>
          <p:nvPr/>
        </p:nvSpPr>
        <p:spPr>
          <a:xfrm>
            <a:off x="2061686" y="3673912"/>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Real-time AI anomaly detection and threat classification</a:t>
            </a:r>
            <a:endParaRPr lang="en-US" sz="1400" dirty="0"/>
          </a:p>
        </p:txBody>
      </p:sp>
      <p:pic>
        <p:nvPicPr>
          <p:cNvPr id="10" name="Image 2" descr="preencoded.png"/>
          <p:cNvPicPr>
            <a:picLocks noChangeAspect="1"/>
          </p:cNvPicPr>
          <p:nvPr/>
        </p:nvPicPr>
        <p:blipFill>
          <a:blip r:embed="rId5"/>
          <a:stretch>
            <a:fillRect/>
          </a:stretch>
        </p:blipFill>
        <p:spPr>
          <a:xfrm>
            <a:off x="998577" y="4214813"/>
            <a:ext cx="915353" cy="1098471"/>
          </a:xfrm>
          <a:prstGeom prst="rect">
            <a:avLst/>
          </a:prstGeom>
        </p:spPr>
      </p:pic>
      <p:sp>
        <p:nvSpPr>
          <p:cNvPr id="11" name="Text 6"/>
          <p:cNvSpPr/>
          <p:nvPr/>
        </p:nvSpPr>
        <p:spPr>
          <a:xfrm>
            <a:off x="2061686" y="4397812"/>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666666"/>
                </a:solidFill>
                <a:latin typeface="Outfit Medium" pitchFamily="34" charset="0"/>
                <a:ea typeface="Outfit Medium" pitchFamily="34" charset="-122"/>
                <a:cs typeface="Outfit Medium" pitchFamily="34" charset="-120"/>
              </a:rPr>
              <a:t>Firebase Cloud Sync</a:t>
            </a:r>
            <a:endParaRPr lang="en-US" sz="1800" dirty="0"/>
          </a:p>
        </p:txBody>
      </p:sp>
      <p:sp>
        <p:nvSpPr>
          <p:cNvPr id="12" name="Text 7"/>
          <p:cNvSpPr/>
          <p:nvPr/>
        </p:nvSpPr>
        <p:spPr>
          <a:xfrm>
            <a:off x="2061686" y="4772382"/>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Centralized telemetry storage and model synchronization</a:t>
            </a:r>
            <a:endParaRPr lang="en-US" sz="1400" dirty="0"/>
          </a:p>
        </p:txBody>
      </p:sp>
      <p:pic>
        <p:nvPicPr>
          <p:cNvPr id="13" name="Image 3" descr="preencoded.png"/>
          <p:cNvPicPr>
            <a:picLocks noChangeAspect="1"/>
          </p:cNvPicPr>
          <p:nvPr/>
        </p:nvPicPr>
        <p:blipFill>
          <a:blip r:embed="rId6"/>
          <a:stretch>
            <a:fillRect/>
          </a:stretch>
        </p:blipFill>
        <p:spPr>
          <a:xfrm>
            <a:off x="998577" y="5313283"/>
            <a:ext cx="915353" cy="1098471"/>
          </a:xfrm>
          <a:prstGeom prst="rect">
            <a:avLst/>
          </a:prstGeom>
        </p:spPr>
      </p:pic>
      <p:sp>
        <p:nvSpPr>
          <p:cNvPr id="14" name="Text 8"/>
          <p:cNvSpPr/>
          <p:nvPr/>
        </p:nvSpPr>
        <p:spPr>
          <a:xfrm>
            <a:off x="2061686" y="5496282"/>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666666"/>
                </a:solidFill>
                <a:latin typeface="Outfit Medium" pitchFamily="34" charset="0"/>
                <a:ea typeface="Outfit Medium" pitchFamily="34" charset="-122"/>
                <a:cs typeface="Outfit Medium" pitchFamily="34" charset="-120"/>
              </a:rPr>
              <a:t>Security Dashboard</a:t>
            </a:r>
            <a:endParaRPr lang="en-US" sz="1800" dirty="0"/>
          </a:p>
        </p:txBody>
      </p:sp>
      <p:sp>
        <p:nvSpPr>
          <p:cNvPr id="15" name="Text 9"/>
          <p:cNvSpPr/>
          <p:nvPr/>
        </p:nvSpPr>
        <p:spPr>
          <a:xfrm>
            <a:off x="2061686" y="5870853"/>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Real-time visualization and alert management interface</a:t>
            </a:r>
            <a:endParaRPr lang="en-US" sz="1400" dirty="0"/>
          </a:p>
        </p:txBody>
      </p:sp>
      <p:pic>
        <p:nvPicPr>
          <p:cNvPr id="16" name="Image 4" descr="preencoded.png"/>
          <p:cNvPicPr>
            <a:picLocks noChangeAspect="1"/>
          </p:cNvPicPr>
          <p:nvPr/>
        </p:nvPicPr>
        <p:blipFill>
          <a:blip r:embed="rId7"/>
          <a:stretch>
            <a:fillRect/>
          </a:stretch>
        </p:blipFill>
        <p:spPr>
          <a:xfrm>
            <a:off x="998577" y="6411754"/>
            <a:ext cx="915353" cy="1098471"/>
          </a:xfrm>
          <a:prstGeom prst="rect">
            <a:avLst/>
          </a:prstGeom>
        </p:spPr>
      </p:pic>
      <p:sp>
        <p:nvSpPr>
          <p:cNvPr id="17" name="Text 10"/>
          <p:cNvSpPr/>
          <p:nvPr/>
        </p:nvSpPr>
        <p:spPr>
          <a:xfrm>
            <a:off x="2061686" y="6594753"/>
            <a:ext cx="2288619" cy="285988"/>
          </a:xfrm>
          <a:prstGeom prst="rect">
            <a:avLst/>
          </a:prstGeom>
          <a:noFill/>
          <a:ln/>
        </p:spPr>
        <p:txBody>
          <a:bodyPr wrap="none" lIns="0" tIns="0" rIns="0" bIns="0" rtlCol="0" anchor="t"/>
          <a:lstStyle/>
          <a:p>
            <a:pPr marL="0" indent="0" algn="l">
              <a:lnSpc>
                <a:spcPts val="2250"/>
              </a:lnSpc>
              <a:buNone/>
            </a:pPr>
            <a:r>
              <a:rPr lang="en-US" sz="1800" dirty="0">
                <a:solidFill>
                  <a:srgbClr val="666666"/>
                </a:solidFill>
                <a:latin typeface="Outfit Medium" pitchFamily="34" charset="0"/>
                <a:ea typeface="Outfit Medium" pitchFamily="34" charset="-122"/>
                <a:cs typeface="Outfit Medium" pitchFamily="34" charset="-120"/>
              </a:rPr>
              <a:t>Automated Response</a:t>
            </a:r>
            <a:endParaRPr lang="en-US" sz="1800" dirty="0"/>
          </a:p>
        </p:txBody>
      </p:sp>
      <p:sp>
        <p:nvSpPr>
          <p:cNvPr id="18" name="Text 11"/>
          <p:cNvSpPr/>
          <p:nvPr/>
        </p:nvSpPr>
        <p:spPr>
          <a:xfrm>
            <a:off x="2061686" y="6969323"/>
            <a:ext cx="11570018" cy="264676"/>
          </a:xfrm>
          <a:prstGeom prst="rect">
            <a:avLst/>
          </a:prstGeom>
          <a:noFill/>
          <a:ln/>
        </p:spPr>
        <p:txBody>
          <a:bodyPr wrap="none" lIns="0" tIns="0" rIns="0" bIns="0" rtlCol="0" anchor="t"/>
          <a:lstStyle/>
          <a:p>
            <a:pPr marL="0" indent="0" algn="l">
              <a:lnSpc>
                <a:spcPts val="2050"/>
              </a:lnSpc>
              <a:buNone/>
            </a:pPr>
            <a:r>
              <a:rPr lang="en-US" sz="1400" dirty="0">
                <a:solidFill>
                  <a:srgbClr val="666666"/>
                </a:solidFill>
                <a:latin typeface="IBM Plex Sans" pitchFamily="34" charset="0"/>
                <a:ea typeface="IBM Plex Sans" pitchFamily="34" charset="-122"/>
                <a:cs typeface="IBM Plex Sans" pitchFamily="34" charset="-120"/>
              </a:rPr>
              <a:t>Immediate threat mitigation and containment protocols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2768918" y="1016556"/>
            <a:ext cx="3729038" cy="411718"/>
          </a:xfrm>
          <a:prstGeom prst="rect">
            <a:avLst/>
          </a:prstGeom>
          <a:noFill/>
          <a:ln/>
        </p:spPr>
        <p:txBody>
          <a:bodyPr wrap="none" lIns="0" tIns="0" rIns="0" bIns="0" rtlCol="0" anchor="t"/>
          <a:lstStyle/>
          <a:p>
            <a:pPr marL="0" indent="0" algn="l">
              <a:lnSpc>
                <a:spcPts val="3200"/>
              </a:lnSpc>
              <a:buNone/>
            </a:pPr>
            <a:r>
              <a:rPr lang="en-US" sz="2550" dirty="0">
                <a:solidFill>
                  <a:srgbClr val="3F6FF3"/>
                </a:solidFill>
                <a:latin typeface="Outfit Medium" pitchFamily="34" charset="0"/>
                <a:ea typeface="Outfit Medium" pitchFamily="34" charset="-122"/>
                <a:cs typeface="Outfit Medium" pitchFamily="34" charset="-120"/>
              </a:rPr>
              <a:t>Threat Detection Pipeline</a:t>
            </a:r>
            <a:endParaRPr lang="en-US" sz="2550" dirty="0"/>
          </a:p>
        </p:txBody>
      </p:sp>
      <p:pic>
        <p:nvPicPr>
          <p:cNvPr id="3" name="Image 0" descr="preencoded.png"/>
          <p:cNvPicPr>
            <a:picLocks noChangeAspect="1"/>
          </p:cNvPicPr>
          <p:nvPr/>
        </p:nvPicPr>
        <p:blipFill>
          <a:blip r:embed="rId3"/>
          <a:stretch>
            <a:fillRect/>
          </a:stretch>
        </p:blipFill>
        <p:spPr>
          <a:xfrm>
            <a:off x="2768918" y="2760107"/>
            <a:ext cx="5797629" cy="3235881"/>
          </a:xfrm>
          <a:prstGeom prst="rect">
            <a:avLst/>
          </a:prstGeom>
        </p:spPr>
      </p:pic>
      <p:sp>
        <p:nvSpPr>
          <p:cNvPr id="4" name="Text 1"/>
          <p:cNvSpPr/>
          <p:nvPr/>
        </p:nvSpPr>
        <p:spPr>
          <a:xfrm>
            <a:off x="8895636" y="1629132"/>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01</a:t>
            </a:r>
            <a:endParaRPr lang="en-US" sz="1000" dirty="0"/>
          </a:p>
        </p:txBody>
      </p:sp>
      <p:sp>
        <p:nvSpPr>
          <p:cNvPr id="5" name="Shape 2"/>
          <p:cNvSpPr/>
          <p:nvPr/>
        </p:nvSpPr>
        <p:spPr>
          <a:xfrm>
            <a:off x="8895636" y="1837730"/>
            <a:ext cx="2973348" cy="15240"/>
          </a:xfrm>
          <a:prstGeom prst="rect">
            <a:avLst/>
          </a:prstGeom>
          <a:solidFill>
            <a:srgbClr val="A2B9F9"/>
          </a:solidFill>
          <a:ln/>
        </p:spPr>
      </p:sp>
      <p:sp>
        <p:nvSpPr>
          <p:cNvPr id="6" name="Text 3"/>
          <p:cNvSpPr/>
          <p:nvPr/>
        </p:nvSpPr>
        <p:spPr>
          <a:xfrm>
            <a:off x="8895636" y="1934051"/>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Telemetry Collection</a:t>
            </a:r>
            <a:endParaRPr lang="en-US" sz="1250" dirty="0"/>
          </a:p>
        </p:txBody>
      </p:sp>
      <p:sp>
        <p:nvSpPr>
          <p:cNvPr id="7" name="Text 4"/>
          <p:cNvSpPr/>
          <p:nvPr/>
        </p:nvSpPr>
        <p:spPr>
          <a:xfrm>
            <a:off x="8895636" y="2216229"/>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Agents gather real-time behavioral data</a:t>
            </a:r>
            <a:endParaRPr lang="en-US" sz="1000" dirty="0"/>
          </a:p>
        </p:txBody>
      </p:sp>
      <p:sp>
        <p:nvSpPr>
          <p:cNvPr id="8" name="Text 5"/>
          <p:cNvSpPr/>
          <p:nvPr/>
        </p:nvSpPr>
        <p:spPr>
          <a:xfrm>
            <a:off x="8895636" y="2558177"/>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02</a:t>
            </a:r>
            <a:endParaRPr lang="en-US" sz="1000" dirty="0"/>
          </a:p>
        </p:txBody>
      </p:sp>
      <p:sp>
        <p:nvSpPr>
          <p:cNvPr id="9" name="Shape 6"/>
          <p:cNvSpPr/>
          <p:nvPr/>
        </p:nvSpPr>
        <p:spPr>
          <a:xfrm>
            <a:off x="8895636" y="2766774"/>
            <a:ext cx="2973348" cy="15240"/>
          </a:xfrm>
          <a:prstGeom prst="rect">
            <a:avLst/>
          </a:prstGeom>
          <a:solidFill>
            <a:srgbClr val="A2B9F9"/>
          </a:solidFill>
          <a:ln/>
        </p:spPr>
      </p:sp>
      <p:sp>
        <p:nvSpPr>
          <p:cNvPr id="10" name="Text 7"/>
          <p:cNvSpPr/>
          <p:nvPr/>
        </p:nvSpPr>
        <p:spPr>
          <a:xfrm>
            <a:off x="8895636" y="2863096"/>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Data Ingestion API</a:t>
            </a:r>
            <a:endParaRPr lang="en-US" sz="1250" dirty="0"/>
          </a:p>
        </p:txBody>
      </p:sp>
      <p:sp>
        <p:nvSpPr>
          <p:cNvPr id="11" name="Text 8"/>
          <p:cNvSpPr/>
          <p:nvPr/>
        </p:nvSpPr>
        <p:spPr>
          <a:xfrm>
            <a:off x="8895636" y="3145274"/>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Secure transmission to processing engine</a:t>
            </a:r>
            <a:endParaRPr lang="en-US" sz="1000" dirty="0"/>
          </a:p>
        </p:txBody>
      </p:sp>
      <p:sp>
        <p:nvSpPr>
          <p:cNvPr id="12" name="Text 9"/>
          <p:cNvSpPr/>
          <p:nvPr/>
        </p:nvSpPr>
        <p:spPr>
          <a:xfrm>
            <a:off x="8895636" y="3487222"/>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03</a:t>
            </a:r>
            <a:endParaRPr lang="en-US" sz="1000" dirty="0"/>
          </a:p>
        </p:txBody>
      </p:sp>
      <p:sp>
        <p:nvSpPr>
          <p:cNvPr id="13" name="Shape 10"/>
          <p:cNvSpPr/>
          <p:nvPr/>
        </p:nvSpPr>
        <p:spPr>
          <a:xfrm>
            <a:off x="8895636" y="3695819"/>
            <a:ext cx="2973348" cy="15240"/>
          </a:xfrm>
          <a:prstGeom prst="rect">
            <a:avLst/>
          </a:prstGeom>
          <a:solidFill>
            <a:srgbClr val="A2B9F9"/>
          </a:solidFill>
          <a:ln/>
        </p:spPr>
      </p:sp>
      <p:sp>
        <p:nvSpPr>
          <p:cNvPr id="14" name="Text 11"/>
          <p:cNvSpPr/>
          <p:nvPr/>
        </p:nvSpPr>
        <p:spPr>
          <a:xfrm>
            <a:off x="8895636" y="3792141"/>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AI Anomaly Detection</a:t>
            </a:r>
            <a:endParaRPr lang="en-US" sz="1250" dirty="0"/>
          </a:p>
        </p:txBody>
      </p:sp>
      <p:sp>
        <p:nvSpPr>
          <p:cNvPr id="15" name="Text 12"/>
          <p:cNvSpPr/>
          <p:nvPr/>
        </p:nvSpPr>
        <p:spPr>
          <a:xfrm>
            <a:off x="8895636" y="4074319"/>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ML models identify abnormal patterns</a:t>
            </a:r>
            <a:endParaRPr lang="en-US" sz="1000" dirty="0"/>
          </a:p>
        </p:txBody>
      </p:sp>
      <p:sp>
        <p:nvSpPr>
          <p:cNvPr id="16" name="Text 13"/>
          <p:cNvSpPr/>
          <p:nvPr/>
        </p:nvSpPr>
        <p:spPr>
          <a:xfrm>
            <a:off x="8895636" y="4416266"/>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04</a:t>
            </a:r>
            <a:endParaRPr lang="en-US" sz="1000" dirty="0"/>
          </a:p>
        </p:txBody>
      </p:sp>
      <p:sp>
        <p:nvSpPr>
          <p:cNvPr id="17" name="Shape 14"/>
          <p:cNvSpPr/>
          <p:nvPr/>
        </p:nvSpPr>
        <p:spPr>
          <a:xfrm>
            <a:off x="8895636" y="4624864"/>
            <a:ext cx="2973348" cy="15240"/>
          </a:xfrm>
          <a:prstGeom prst="rect">
            <a:avLst/>
          </a:prstGeom>
          <a:solidFill>
            <a:srgbClr val="A2B9F9"/>
          </a:solidFill>
          <a:ln/>
        </p:spPr>
      </p:sp>
      <p:sp>
        <p:nvSpPr>
          <p:cNvPr id="18" name="Text 15"/>
          <p:cNvSpPr/>
          <p:nvPr/>
        </p:nvSpPr>
        <p:spPr>
          <a:xfrm>
            <a:off x="8895636" y="4721185"/>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Threat Classification</a:t>
            </a:r>
            <a:endParaRPr lang="en-US" sz="1250" dirty="0"/>
          </a:p>
        </p:txBody>
      </p:sp>
      <p:sp>
        <p:nvSpPr>
          <p:cNvPr id="19" name="Text 16"/>
          <p:cNvSpPr/>
          <p:nvPr/>
        </p:nvSpPr>
        <p:spPr>
          <a:xfrm>
            <a:off x="8895636" y="5003363"/>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Categorize attack type and severity</a:t>
            </a:r>
            <a:endParaRPr lang="en-US" sz="1000" dirty="0"/>
          </a:p>
        </p:txBody>
      </p:sp>
      <p:sp>
        <p:nvSpPr>
          <p:cNvPr id="20" name="Text 17"/>
          <p:cNvSpPr/>
          <p:nvPr/>
        </p:nvSpPr>
        <p:spPr>
          <a:xfrm>
            <a:off x="8895636" y="5345311"/>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05</a:t>
            </a:r>
            <a:endParaRPr lang="en-US" sz="1000" dirty="0"/>
          </a:p>
        </p:txBody>
      </p:sp>
      <p:sp>
        <p:nvSpPr>
          <p:cNvPr id="21" name="Shape 18"/>
          <p:cNvSpPr/>
          <p:nvPr/>
        </p:nvSpPr>
        <p:spPr>
          <a:xfrm>
            <a:off x="8895636" y="5553908"/>
            <a:ext cx="2973348" cy="15240"/>
          </a:xfrm>
          <a:prstGeom prst="rect">
            <a:avLst/>
          </a:prstGeom>
          <a:solidFill>
            <a:srgbClr val="A2B9F9"/>
          </a:solidFill>
          <a:ln/>
        </p:spPr>
      </p:sp>
      <p:sp>
        <p:nvSpPr>
          <p:cNvPr id="22" name="Text 19"/>
          <p:cNvSpPr/>
          <p:nvPr/>
        </p:nvSpPr>
        <p:spPr>
          <a:xfrm>
            <a:off x="8895636" y="5650230"/>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Alert Generation</a:t>
            </a:r>
            <a:endParaRPr lang="en-US" sz="1250" dirty="0"/>
          </a:p>
        </p:txBody>
      </p:sp>
      <p:sp>
        <p:nvSpPr>
          <p:cNvPr id="23" name="Text 20"/>
          <p:cNvSpPr/>
          <p:nvPr/>
        </p:nvSpPr>
        <p:spPr>
          <a:xfrm>
            <a:off x="8895636" y="5932408"/>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Real-time notifications to security team</a:t>
            </a:r>
            <a:endParaRPr lang="en-US" sz="1000" dirty="0"/>
          </a:p>
        </p:txBody>
      </p:sp>
      <p:sp>
        <p:nvSpPr>
          <p:cNvPr id="24" name="Text 21"/>
          <p:cNvSpPr/>
          <p:nvPr/>
        </p:nvSpPr>
        <p:spPr>
          <a:xfrm>
            <a:off x="8895636" y="6274356"/>
            <a:ext cx="131683" cy="164663"/>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Outfit Light" pitchFamily="34" charset="0"/>
                <a:ea typeface="Outfit Light" pitchFamily="34" charset="-122"/>
                <a:cs typeface="Outfit Light" pitchFamily="34" charset="-120"/>
              </a:rPr>
              <a:t>06</a:t>
            </a:r>
            <a:endParaRPr lang="en-US" sz="1000" dirty="0"/>
          </a:p>
        </p:txBody>
      </p:sp>
      <p:sp>
        <p:nvSpPr>
          <p:cNvPr id="25" name="Shape 22"/>
          <p:cNvSpPr/>
          <p:nvPr/>
        </p:nvSpPr>
        <p:spPr>
          <a:xfrm>
            <a:off x="8895636" y="6482953"/>
            <a:ext cx="2973348" cy="15240"/>
          </a:xfrm>
          <a:prstGeom prst="rect">
            <a:avLst/>
          </a:prstGeom>
          <a:solidFill>
            <a:srgbClr val="A2B9F9"/>
          </a:solidFill>
          <a:ln/>
        </p:spPr>
      </p:sp>
      <p:sp>
        <p:nvSpPr>
          <p:cNvPr id="26" name="Text 23"/>
          <p:cNvSpPr/>
          <p:nvPr/>
        </p:nvSpPr>
        <p:spPr>
          <a:xfrm>
            <a:off x="8895636" y="6579275"/>
            <a:ext cx="1647111" cy="205740"/>
          </a:xfrm>
          <a:prstGeom prst="rect">
            <a:avLst/>
          </a:prstGeom>
          <a:noFill/>
          <a:ln/>
        </p:spPr>
        <p:txBody>
          <a:bodyPr wrap="none" lIns="0" tIns="0" rIns="0" bIns="0" rtlCol="0" anchor="t"/>
          <a:lstStyle/>
          <a:p>
            <a:pPr marL="0" indent="0" algn="l">
              <a:lnSpc>
                <a:spcPts val="1600"/>
              </a:lnSpc>
              <a:buNone/>
            </a:pPr>
            <a:r>
              <a:rPr lang="en-US" sz="1250" dirty="0">
                <a:solidFill>
                  <a:srgbClr val="666666"/>
                </a:solidFill>
                <a:latin typeface="Outfit Medium" pitchFamily="34" charset="0"/>
                <a:ea typeface="Outfit Medium" pitchFamily="34" charset="-122"/>
                <a:cs typeface="Outfit Medium" pitchFamily="34" charset="-120"/>
              </a:rPr>
              <a:t>Automated Response</a:t>
            </a:r>
            <a:endParaRPr lang="en-US" sz="1250" dirty="0"/>
          </a:p>
        </p:txBody>
      </p:sp>
      <p:sp>
        <p:nvSpPr>
          <p:cNvPr id="27" name="Text 24"/>
          <p:cNvSpPr/>
          <p:nvPr/>
        </p:nvSpPr>
        <p:spPr>
          <a:xfrm>
            <a:off x="8895636" y="6861453"/>
            <a:ext cx="2973348" cy="166688"/>
          </a:xfrm>
          <a:prstGeom prst="rect">
            <a:avLst/>
          </a:prstGeom>
          <a:noFill/>
          <a:ln/>
        </p:spPr>
        <p:txBody>
          <a:bodyPr wrap="none" lIns="0" tIns="0" rIns="0" bIns="0" rtlCol="0" anchor="t"/>
          <a:lstStyle/>
          <a:p>
            <a:pPr marL="0" indent="0" algn="l">
              <a:lnSpc>
                <a:spcPts val="1300"/>
              </a:lnSpc>
              <a:buNone/>
            </a:pPr>
            <a:r>
              <a:rPr lang="en-US" sz="1000" dirty="0">
                <a:solidFill>
                  <a:srgbClr val="666666"/>
                </a:solidFill>
                <a:latin typeface="IBM Plex Sans" pitchFamily="34" charset="0"/>
                <a:ea typeface="IBM Plex Sans" pitchFamily="34" charset="-122"/>
                <a:cs typeface="IBM Plex Sans" pitchFamily="34" charset="-120"/>
              </a:rPr>
              <a:t>Immediate threat containment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793790" y="114502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F6FF3"/>
                </a:solidFill>
                <a:latin typeface="Outfit Medium" pitchFamily="34" charset="0"/>
                <a:ea typeface="Outfit Medium" pitchFamily="34" charset="-122"/>
                <a:cs typeface="Outfit Medium" pitchFamily="34" charset="-120"/>
              </a:rPr>
              <a:t>Technology Stack</a:t>
            </a:r>
            <a:endParaRPr lang="en-US" sz="4450" dirty="0"/>
          </a:p>
        </p:txBody>
      </p:sp>
      <p:sp>
        <p:nvSpPr>
          <p:cNvPr id="3" name="Shape 1"/>
          <p:cNvSpPr/>
          <p:nvPr/>
        </p:nvSpPr>
        <p:spPr>
          <a:xfrm>
            <a:off x="793790" y="2307431"/>
            <a:ext cx="4196358" cy="2456617"/>
          </a:xfrm>
          <a:prstGeom prst="roundRect">
            <a:avLst>
              <a:gd name="adj" fmla="val 5956"/>
            </a:avLst>
          </a:prstGeom>
          <a:solidFill>
            <a:srgbClr val="FFFFFF">
              <a:alpha val="95000"/>
            </a:srgbClr>
          </a:solidFill>
          <a:ln w="30480">
            <a:solidFill>
              <a:srgbClr val="A2B9F9"/>
            </a:solidFill>
            <a:prstDash val="solid"/>
          </a:ln>
          <a:effectLst>
            <a:outerShdw dist="20320" dir="2700000" algn="bl" rotWithShape="0">
              <a:srgbClr val="A2B9F9">
                <a:alpha val="100000"/>
              </a:srgbClr>
            </a:outerShdw>
          </a:effectLst>
        </p:spPr>
      </p:sp>
      <p:sp>
        <p:nvSpPr>
          <p:cNvPr id="4" name="Shape 2"/>
          <p:cNvSpPr/>
          <p:nvPr/>
        </p:nvSpPr>
        <p:spPr>
          <a:xfrm>
            <a:off x="763310" y="2307431"/>
            <a:ext cx="121920" cy="2456617"/>
          </a:xfrm>
          <a:prstGeom prst="roundRect">
            <a:avLst>
              <a:gd name="adj" fmla="val 167442"/>
            </a:avLst>
          </a:prstGeom>
          <a:solidFill>
            <a:srgbClr val="A2B9F9"/>
          </a:solidFill>
          <a:ln/>
        </p:spPr>
      </p:sp>
      <p:sp>
        <p:nvSpPr>
          <p:cNvPr id="5" name="Text 3"/>
          <p:cNvSpPr/>
          <p:nvPr/>
        </p:nvSpPr>
        <p:spPr>
          <a:xfrm>
            <a:off x="1142524" y="25647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Backend Engine</a:t>
            </a:r>
            <a:endParaRPr lang="en-US" sz="2200" dirty="0"/>
          </a:p>
        </p:txBody>
      </p:sp>
      <p:sp>
        <p:nvSpPr>
          <p:cNvPr id="6" name="Text 4"/>
          <p:cNvSpPr/>
          <p:nvPr/>
        </p:nvSpPr>
        <p:spPr>
          <a:xfrm>
            <a:off x="1142524" y="3055144"/>
            <a:ext cx="3590330" cy="1451610"/>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FastAPI (Python)</a:t>
            </a:r>
            <a:r>
              <a:rPr lang="en-US" sz="1750" dirty="0">
                <a:solidFill>
                  <a:srgbClr val="666666"/>
                </a:solidFill>
                <a:latin typeface="IBM Plex Sans" pitchFamily="34" charset="0"/>
                <a:ea typeface="IBM Plex Sans" pitchFamily="34" charset="-122"/>
                <a:cs typeface="IBM Plex Sans" pitchFamily="34" charset="-120"/>
              </a:rPr>
              <a:t> – High-performance API framework for real-time data processing and ML inference</a:t>
            </a:r>
            <a:endParaRPr lang="en-US" sz="1750" dirty="0"/>
          </a:p>
        </p:txBody>
      </p:sp>
      <p:sp>
        <p:nvSpPr>
          <p:cNvPr id="7" name="Shape 5"/>
          <p:cNvSpPr/>
          <p:nvPr/>
        </p:nvSpPr>
        <p:spPr>
          <a:xfrm>
            <a:off x="5216962" y="2307431"/>
            <a:ext cx="4196358" cy="2456617"/>
          </a:xfrm>
          <a:prstGeom prst="roundRect">
            <a:avLst>
              <a:gd name="adj" fmla="val 5956"/>
            </a:avLst>
          </a:prstGeom>
          <a:solidFill>
            <a:srgbClr val="FFFFFF">
              <a:alpha val="95000"/>
            </a:srgbClr>
          </a:solidFill>
          <a:ln w="30480">
            <a:solidFill>
              <a:srgbClr val="406FF4"/>
            </a:solidFill>
            <a:prstDash val="solid"/>
          </a:ln>
          <a:effectLst>
            <a:outerShdw dist="20320" dir="2700000" algn="bl" rotWithShape="0">
              <a:srgbClr val="406FF4">
                <a:alpha val="100000"/>
              </a:srgbClr>
            </a:outerShdw>
          </a:effectLst>
        </p:spPr>
      </p:sp>
      <p:sp>
        <p:nvSpPr>
          <p:cNvPr id="8" name="Shape 6"/>
          <p:cNvSpPr/>
          <p:nvPr/>
        </p:nvSpPr>
        <p:spPr>
          <a:xfrm>
            <a:off x="5186482" y="2307431"/>
            <a:ext cx="121920" cy="2456617"/>
          </a:xfrm>
          <a:prstGeom prst="roundRect">
            <a:avLst>
              <a:gd name="adj" fmla="val 167442"/>
            </a:avLst>
          </a:prstGeom>
          <a:solidFill>
            <a:srgbClr val="406FF4"/>
          </a:solidFill>
          <a:ln/>
        </p:spPr>
      </p:sp>
      <p:sp>
        <p:nvSpPr>
          <p:cNvPr id="9" name="Text 7"/>
          <p:cNvSpPr/>
          <p:nvPr/>
        </p:nvSpPr>
        <p:spPr>
          <a:xfrm>
            <a:off x="5565696" y="25647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AI Models</a:t>
            </a:r>
            <a:endParaRPr lang="en-US" sz="2200" dirty="0"/>
          </a:p>
        </p:txBody>
      </p:sp>
      <p:sp>
        <p:nvSpPr>
          <p:cNvPr id="10" name="Text 8"/>
          <p:cNvSpPr/>
          <p:nvPr/>
        </p:nvSpPr>
        <p:spPr>
          <a:xfrm>
            <a:off x="5565696" y="3055144"/>
            <a:ext cx="3590330" cy="1451610"/>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Isolation Forest &amp; Autoencoders</a:t>
            </a:r>
            <a:r>
              <a:rPr lang="en-US" sz="1750" dirty="0">
                <a:solidFill>
                  <a:srgbClr val="666666"/>
                </a:solidFill>
                <a:latin typeface="IBM Plex Sans" pitchFamily="34" charset="0"/>
                <a:ea typeface="IBM Plex Sans" pitchFamily="34" charset="-122"/>
                <a:cs typeface="IBM Plex Sans" pitchFamily="34" charset="-120"/>
              </a:rPr>
              <a:t> – Unsupervised learning algorithms for behavioral anomaly detection</a:t>
            </a:r>
            <a:endParaRPr lang="en-US" sz="1750" dirty="0"/>
          </a:p>
        </p:txBody>
      </p:sp>
      <p:sp>
        <p:nvSpPr>
          <p:cNvPr id="11" name="Shape 9"/>
          <p:cNvSpPr/>
          <p:nvPr/>
        </p:nvSpPr>
        <p:spPr>
          <a:xfrm>
            <a:off x="9640133" y="2307431"/>
            <a:ext cx="4196358" cy="2456617"/>
          </a:xfrm>
          <a:prstGeom prst="roundRect">
            <a:avLst>
              <a:gd name="adj" fmla="val 5956"/>
            </a:avLst>
          </a:prstGeom>
          <a:solidFill>
            <a:srgbClr val="FFFFFF">
              <a:alpha val="95000"/>
            </a:srgbClr>
          </a:solidFill>
          <a:ln w="30480">
            <a:solidFill>
              <a:srgbClr val="7095F6"/>
            </a:solidFill>
            <a:prstDash val="solid"/>
          </a:ln>
          <a:effectLst>
            <a:outerShdw dist="20320" dir="2700000" algn="bl" rotWithShape="0">
              <a:srgbClr val="7095F6">
                <a:alpha val="100000"/>
              </a:srgbClr>
            </a:outerShdw>
          </a:effectLst>
        </p:spPr>
      </p:sp>
      <p:sp>
        <p:nvSpPr>
          <p:cNvPr id="12" name="Shape 10"/>
          <p:cNvSpPr/>
          <p:nvPr/>
        </p:nvSpPr>
        <p:spPr>
          <a:xfrm>
            <a:off x="9609653" y="2307431"/>
            <a:ext cx="121920" cy="2456617"/>
          </a:xfrm>
          <a:prstGeom prst="roundRect">
            <a:avLst>
              <a:gd name="adj" fmla="val 167442"/>
            </a:avLst>
          </a:prstGeom>
          <a:solidFill>
            <a:srgbClr val="7095F6"/>
          </a:solidFill>
          <a:ln/>
        </p:spPr>
      </p:sp>
      <p:sp>
        <p:nvSpPr>
          <p:cNvPr id="13" name="Text 11"/>
          <p:cNvSpPr/>
          <p:nvPr/>
        </p:nvSpPr>
        <p:spPr>
          <a:xfrm>
            <a:off x="9988868" y="25647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Database</a:t>
            </a:r>
            <a:endParaRPr lang="en-US" sz="2200" dirty="0"/>
          </a:p>
        </p:txBody>
      </p:sp>
      <p:sp>
        <p:nvSpPr>
          <p:cNvPr id="14" name="Text 12"/>
          <p:cNvSpPr/>
          <p:nvPr/>
        </p:nvSpPr>
        <p:spPr>
          <a:xfrm>
            <a:off x="9988868" y="3055144"/>
            <a:ext cx="3590330" cy="1088708"/>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Firebase Firestore</a:t>
            </a:r>
            <a:r>
              <a:rPr lang="en-US" sz="1750" dirty="0">
                <a:solidFill>
                  <a:srgbClr val="666666"/>
                </a:solidFill>
                <a:latin typeface="IBM Plex Sans" pitchFamily="34" charset="0"/>
                <a:ea typeface="IBM Plex Sans" pitchFamily="34" charset="-122"/>
                <a:cs typeface="IBM Plex Sans" pitchFamily="34" charset="-120"/>
              </a:rPr>
              <a:t> – NoSQL document store for telemetry data and model state synchronization</a:t>
            </a:r>
            <a:endParaRPr lang="en-US" sz="1750" dirty="0"/>
          </a:p>
        </p:txBody>
      </p:sp>
      <p:sp>
        <p:nvSpPr>
          <p:cNvPr id="15" name="Shape 13"/>
          <p:cNvSpPr/>
          <p:nvPr/>
        </p:nvSpPr>
        <p:spPr>
          <a:xfrm>
            <a:off x="793790" y="4990862"/>
            <a:ext cx="4196358" cy="2093714"/>
          </a:xfrm>
          <a:prstGeom prst="roundRect">
            <a:avLst>
              <a:gd name="adj" fmla="val 6988"/>
            </a:avLst>
          </a:prstGeom>
          <a:solidFill>
            <a:srgbClr val="FFFFFF">
              <a:alpha val="95000"/>
            </a:srgbClr>
          </a:solidFill>
          <a:ln w="30480">
            <a:solidFill>
              <a:srgbClr val="124DF0"/>
            </a:solidFill>
            <a:prstDash val="solid"/>
          </a:ln>
          <a:effectLst>
            <a:outerShdw dist="20320" dir="2700000" algn="bl" rotWithShape="0">
              <a:srgbClr val="124DF0">
                <a:alpha val="100000"/>
              </a:srgbClr>
            </a:outerShdw>
          </a:effectLst>
        </p:spPr>
      </p:sp>
      <p:sp>
        <p:nvSpPr>
          <p:cNvPr id="16" name="Shape 14"/>
          <p:cNvSpPr/>
          <p:nvPr/>
        </p:nvSpPr>
        <p:spPr>
          <a:xfrm>
            <a:off x="763310" y="4990862"/>
            <a:ext cx="121920" cy="2093714"/>
          </a:xfrm>
          <a:prstGeom prst="roundRect">
            <a:avLst>
              <a:gd name="adj" fmla="val 167442"/>
            </a:avLst>
          </a:prstGeom>
          <a:solidFill>
            <a:srgbClr val="124DF0"/>
          </a:solidFill>
          <a:ln/>
        </p:spPr>
      </p:sp>
      <p:sp>
        <p:nvSpPr>
          <p:cNvPr id="17" name="Text 15"/>
          <p:cNvSpPr/>
          <p:nvPr/>
        </p:nvSpPr>
        <p:spPr>
          <a:xfrm>
            <a:off x="1142524" y="52481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Frontend</a:t>
            </a:r>
            <a:endParaRPr lang="en-US" sz="2200" dirty="0"/>
          </a:p>
        </p:txBody>
      </p:sp>
      <p:sp>
        <p:nvSpPr>
          <p:cNvPr id="18" name="Text 16"/>
          <p:cNvSpPr/>
          <p:nvPr/>
        </p:nvSpPr>
        <p:spPr>
          <a:xfrm>
            <a:off x="1142524" y="5738574"/>
            <a:ext cx="3590330" cy="1088708"/>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HTML + JavaScript + TailwindCSS</a:t>
            </a:r>
            <a:r>
              <a:rPr lang="en-US" sz="1750" dirty="0">
                <a:solidFill>
                  <a:srgbClr val="666666"/>
                </a:solidFill>
                <a:latin typeface="IBM Plex Sans" pitchFamily="34" charset="0"/>
                <a:ea typeface="IBM Plex Sans" pitchFamily="34" charset="-122"/>
                <a:cs typeface="IBM Plex Sans" pitchFamily="34" charset="-120"/>
              </a:rPr>
              <a:t> – Real-time dashboard with WebSocket updates</a:t>
            </a:r>
            <a:endParaRPr lang="en-US" sz="1750" dirty="0"/>
          </a:p>
        </p:txBody>
      </p:sp>
      <p:sp>
        <p:nvSpPr>
          <p:cNvPr id="19" name="Shape 17"/>
          <p:cNvSpPr/>
          <p:nvPr/>
        </p:nvSpPr>
        <p:spPr>
          <a:xfrm>
            <a:off x="5216962" y="4990862"/>
            <a:ext cx="4196358" cy="2093714"/>
          </a:xfrm>
          <a:prstGeom prst="roundRect">
            <a:avLst>
              <a:gd name="adj" fmla="val 6988"/>
            </a:avLst>
          </a:prstGeom>
          <a:solidFill>
            <a:srgbClr val="FFFFFF">
              <a:alpha val="95000"/>
            </a:srgbClr>
          </a:solidFill>
          <a:ln w="30480">
            <a:solidFill>
              <a:srgbClr val="C6E7BD"/>
            </a:solidFill>
            <a:prstDash val="solid"/>
          </a:ln>
          <a:effectLst>
            <a:outerShdw dist="20320" dir="2700000" algn="bl" rotWithShape="0">
              <a:srgbClr val="C6E7BD">
                <a:alpha val="100000"/>
              </a:srgbClr>
            </a:outerShdw>
          </a:effectLst>
        </p:spPr>
      </p:sp>
      <p:sp>
        <p:nvSpPr>
          <p:cNvPr id="20" name="Shape 18"/>
          <p:cNvSpPr/>
          <p:nvPr/>
        </p:nvSpPr>
        <p:spPr>
          <a:xfrm>
            <a:off x="5186482" y="4990862"/>
            <a:ext cx="121920" cy="2093714"/>
          </a:xfrm>
          <a:prstGeom prst="roundRect">
            <a:avLst>
              <a:gd name="adj" fmla="val 167442"/>
            </a:avLst>
          </a:prstGeom>
          <a:solidFill>
            <a:srgbClr val="C6E7BD"/>
          </a:solidFill>
          <a:ln/>
        </p:spPr>
      </p:sp>
      <p:sp>
        <p:nvSpPr>
          <p:cNvPr id="21" name="Text 19"/>
          <p:cNvSpPr/>
          <p:nvPr/>
        </p:nvSpPr>
        <p:spPr>
          <a:xfrm>
            <a:off x="5565696" y="524815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666666"/>
                </a:solidFill>
                <a:latin typeface="Outfit Medium" pitchFamily="34" charset="0"/>
                <a:ea typeface="Outfit Medium" pitchFamily="34" charset="-122"/>
                <a:cs typeface="Outfit Medium" pitchFamily="34" charset="-120"/>
              </a:rPr>
              <a:t>Infrastructure</a:t>
            </a:r>
            <a:endParaRPr lang="en-US" sz="2200" dirty="0"/>
          </a:p>
        </p:txBody>
      </p:sp>
      <p:sp>
        <p:nvSpPr>
          <p:cNvPr id="22" name="Text 20"/>
          <p:cNvSpPr/>
          <p:nvPr/>
        </p:nvSpPr>
        <p:spPr>
          <a:xfrm>
            <a:off x="5565696" y="5738574"/>
            <a:ext cx="3590330" cy="1088708"/>
          </a:xfrm>
          <a:prstGeom prst="rect">
            <a:avLst/>
          </a:prstGeom>
          <a:noFill/>
          <a:ln/>
        </p:spPr>
        <p:txBody>
          <a:bodyPr wrap="squar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Real-time Cloud Sync</a:t>
            </a:r>
            <a:r>
              <a:rPr lang="en-US" sz="1750" dirty="0">
                <a:solidFill>
                  <a:srgbClr val="666666"/>
                </a:solidFill>
                <a:latin typeface="IBM Plex Sans" pitchFamily="34" charset="0"/>
                <a:ea typeface="IBM Plex Sans" pitchFamily="34" charset="-122"/>
                <a:cs typeface="IBM Plex Sans" pitchFamily="34" charset="-120"/>
              </a:rPr>
              <a:t> – Distributed architecture for enterprise-scale deployment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93790" y="1249799"/>
            <a:ext cx="9469041" cy="708779"/>
          </a:xfrm>
          <a:prstGeom prst="rect">
            <a:avLst/>
          </a:prstGeom>
          <a:noFill/>
          <a:ln/>
        </p:spPr>
        <p:txBody>
          <a:bodyPr wrap="none" lIns="0" tIns="0" rIns="0" bIns="0" rtlCol="0" anchor="t"/>
          <a:lstStyle/>
          <a:p>
            <a:pPr marL="0" indent="0" algn="l">
              <a:lnSpc>
                <a:spcPts val="5550"/>
              </a:lnSpc>
              <a:buNone/>
            </a:pPr>
            <a:r>
              <a:rPr lang="en-US" sz="4450" dirty="0">
                <a:solidFill>
                  <a:srgbClr val="3F6FF3"/>
                </a:solidFill>
                <a:latin typeface="Outfit Medium" pitchFamily="34" charset="0"/>
                <a:ea typeface="Outfit Medium" pitchFamily="34" charset="-122"/>
                <a:cs typeface="Outfit Medium" pitchFamily="34" charset="-120"/>
              </a:rPr>
              <a:t>ZeroTrace AI: Competitive Advantage</a:t>
            </a:r>
            <a:endParaRPr lang="en-US" sz="4450" dirty="0"/>
          </a:p>
        </p:txBody>
      </p:sp>
      <p:sp>
        <p:nvSpPr>
          <p:cNvPr id="3" name="Shape 1"/>
          <p:cNvSpPr/>
          <p:nvPr/>
        </p:nvSpPr>
        <p:spPr>
          <a:xfrm>
            <a:off x="793790" y="2412206"/>
            <a:ext cx="13042821" cy="4567476"/>
          </a:xfrm>
          <a:prstGeom prst="roundRect">
            <a:avLst>
              <a:gd name="adj" fmla="val 4470"/>
            </a:avLst>
          </a:prstGeom>
          <a:noFill/>
          <a:ln w="7620">
            <a:solidFill>
              <a:srgbClr val="000000">
                <a:alpha val="8000"/>
              </a:srgbClr>
            </a:solidFill>
            <a:prstDash val="solid"/>
          </a:ln>
        </p:spPr>
      </p:sp>
      <p:sp>
        <p:nvSpPr>
          <p:cNvPr id="4" name="Shape 2"/>
          <p:cNvSpPr/>
          <p:nvPr/>
        </p:nvSpPr>
        <p:spPr>
          <a:xfrm>
            <a:off x="801410" y="2419826"/>
            <a:ext cx="13027581" cy="650319"/>
          </a:xfrm>
          <a:prstGeom prst="rect">
            <a:avLst/>
          </a:prstGeom>
          <a:solidFill>
            <a:srgbClr val="FFFFFF">
              <a:alpha val="4000"/>
            </a:srgbClr>
          </a:solidFill>
          <a:ln/>
        </p:spPr>
      </p:sp>
      <p:sp>
        <p:nvSpPr>
          <p:cNvPr id="5" name="Text 3"/>
          <p:cNvSpPr/>
          <p:nvPr/>
        </p:nvSpPr>
        <p:spPr>
          <a:xfrm>
            <a:off x="1028343" y="2563535"/>
            <a:ext cx="3450788" cy="362903"/>
          </a:xfrm>
          <a:prstGeom prst="rect">
            <a:avLst/>
          </a:prstGeom>
          <a:noFill/>
          <a:ln/>
        </p:spPr>
        <p:txBody>
          <a:bodyPr wrap="non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Feature</a:t>
            </a:r>
            <a:endParaRPr lang="en-US" sz="1750" dirty="0"/>
          </a:p>
        </p:txBody>
      </p:sp>
      <p:sp>
        <p:nvSpPr>
          <p:cNvPr id="6" name="Text 4"/>
          <p:cNvSpPr/>
          <p:nvPr/>
        </p:nvSpPr>
        <p:spPr>
          <a:xfrm>
            <a:off x="4940379" y="2563535"/>
            <a:ext cx="4098369" cy="362903"/>
          </a:xfrm>
          <a:prstGeom prst="rect">
            <a:avLst/>
          </a:prstGeom>
          <a:noFill/>
          <a:ln/>
        </p:spPr>
        <p:txBody>
          <a:bodyPr wrap="non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Traditional Tools</a:t>
            </a:r>
            <a:endParaRPr lang="en-US" sz="1750" dirty="0"/>
          </a:p>
        </p:txBody>
      </p:sp>
      <p:sp>
        <p:nvSpPr>
          <p:cNvPr id="7" name="Text 5"/>
          <p:cNvSpPr/>
          <p:nvPr/>
        </p:nvSpPr>
        <p:spPr>
          <a:xfrm>
            <a:off x="9499997" y="2563535"/>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666666"/>
                </a:solidFill>
                <a:latin typeface="IBM Plex Sans" pitchFamily="34" charset="0"/>
                <a:ea typeface="IBM Plex Sans" pitchFamily="34" charset="-122"/>
                <a:cs typeface="IBM Plex Sans" pitchFamily="34" charset="-120"/>
              </a:rPr>
              <a:t>ZeroTrace AI</a:t>
            </a:r>
            <a:endParaRPr lang="en-US" sz="1750" dirty="0"/>
          </a:p>
        </p:txBody>
      </p:sp>
      <p:sp>
        <p:nvSpPr>
          <p:cNvPr id="8" name="Shape 6"/>
          <p:cNvSpPr/>
          <p:nvPr/>
        </p:nvSpPr>
        <p:spPr>
          <a:xfrm>
            <a:off x="801410" y="3070146"/>
            <a:ext cx="13027581" cy="650319"/>
          </a:xfrm>
          <a:prstGeom prst="rect">
            <a:avLst/>
          </a:prstGeom>
          <a:solidFill>
            <a:srgbClr val="000000">
              <a:alpha val="4000"/>
            </a:srgbClr>
          </a:solidFill>
          <a:ln/>
        </p:spPr>
      </p:sp>
      <p:sp>
        <p:nvSpPr>
          <p:cNvPr id="9" name="Text 7"/>
          <p:cNvSpPr/>
          <p:nvPr/>
        </p:nvSpPr>
        <p:spPr>
          <a:xfrm>
            <a:off x="1028343" y="3213854"/>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Detection Method</a:t>
            </a:r>
            <a:endParaRPr lang="en-US" sz="1750" dirty="0"/>
          </a:p>
        </p:txBody>
      </p:sp>
      <p:sp>
        <p:nvSpPr>
          <p:cNvPr id="10" name="Text 8"/>
          <p:cNvSpPr/>
          <p:nvPr/>
        </p:nvSpPr>
        <p:spPr>
          <a:xfrm>
            <a:off x="4940379" y="3213854"/>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Malware signatures</a:t>
            </a:r>
            <a:endParaRPr lang="en-US" sz="1750" dirty="0"/>
          </a:p>
        </p:txBody>
      </p:sp>
      <p:sp>
        <p:nvSpPr>
          <p:cNvPr id="11" name="Text 9"/>
          <p:cNvSpPr/>
          <p:nvPr/>
        </p:nvSpPr>
        <p:spPr>
          <a:xfrm>
            <a:off x="9499997" y="3213854"/>
            <a:ext cx="410217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Behavioral analysis</a:t>
            </a:r>
            <a:endParaRPr lang="en-US" sz="1750" dirty="0"/>
          </a:p>
        </p:txBody>
      </p:sp>
      <p:sp>
        <p:nvSpPr>
          <p:cNvPr id="12" name="Shape 10"/>
          <p:cNvSpPr/>
          <p:nvPr/>
        </p:nvSpPr>
        <p:spPr>
          <a:xfrm>
            <a:off x="801410" y="3720465"/>
            <a:ext cx="13027581" cy="650319"/>
          </a:xfrm>
          <a:prstGeom prst="rect">
            <a:avLst/>
          </a:prstGeom>
          <a:solidFill>
            <a:srgbClr val="FFFFFF">
              <a:alpha val="4000"/>
            </a:srgbClr>
          </a:solidFill>
          <a:ln/>
        </p:spPr>
      </p:sp>
      <p:sp>
        <p:nvSpPr>
          <p:cNvPr id="13" name="Text 11"/>
          <p:cNvSpPr/>
          <p:nvPr/>
        </p:nvSpPr>
        <p:spPr>
          <a:xfrm>
            <a:off x="1028343" y="3864173"/>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Detection Speed</a:t>
            </a:r>
            <a:endParaRPr lang="en-US" sz="1750" dirty="0"/>
          </a:p>
        </p:txBody>
      </p:sp>
      <p:sp>
        <p:nvSpPr>
          <p:cNvPr id="14" name="Text 12"/>
          <p:cNvSpPr/>
          <p:nvPr/>
        </p:nvSpPr>
        <p:spPr>
          <a:xfrm>
            <a:off x="4940379" y="3864173"/>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Hours to days</a:t>
            </a:r>
            <a:endParaRPr lang="en-US" sz="1750" dirty="0"/>
          </a:p>
        </p:txBody>
      </p:sp>
      <p:sp>
        <p:nvSpPr>
          <p:cNvPr id="15" name="Text 13"/>
          <p:cNvSpPr/>
          <p:nvPr/>
        </p:nvSpPr>
        <p:spPr>
          <a:xfrm>
            <a:off x="9499997" y="3864173"/>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A2B9F9"/>
                </a:solidFill>
                <a:latin typeface="IBM Plex Sans" pitchFamily="34" charset="0"/>
                <a:ea typeface="IBM Plex Sans" pitchFamily="34" charset="-122"/>
                <a:cs typeface="IBM Plex Sans" pitchFamily="34" charset="-120"/>
              </a:rPr>
              <a:t>&lt; 2 seconds</a:t>
            </a:r>
            <a:endParaRPr lang="en-US" sz="1750" dirty="0"/>
          </a:p>
        </p:txBody>
      </p:sp>
      <p:sp>
        <p:nvSpPr>
          <p:cNvPr id="16" name="Shape 14"/>
          <p:cNvSpPr/>
          <p:nvPr/>
        </p:nvSpPr>
        <p:spPr>
          <a:xfrm>
            <a:off x="801410" y="4370784"/>
            <a:ext cx="13027581" cy="650319"/>
          </a:xfrm>
          <a:prstGeom prst="rect">
            <a:avLst/>
          </a:prstGeom>
          <a:solidFill>
            <a:srgbClr val="000000">
              <a:alpha val="4000"/>
            </a:srgbClr>
          </a:solidFill>
          <a:ln/>
        </p:spPr>
      </p:sp>
      <p:sp>
        <p:nvSpPr>
          <p:cNvPr id="17" name="Text 15"/>
          <p:cNvSpPr/>
          <p:nvPr/>
        </p:nvSpPr>
        <p:spPr>
          <a:xfrm>
            <a:off x="1028343" y="4514493"/>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File-less Attack Detection</a:t>
            </a:r>
            <a:endParaRPr lang="en-US" sz="1750" dirty="0"/>
          </a:p>
        </p:txBody>
      </p:sp>
      <p:sp>
        <p:nvSpPr>
          <p:cNvPr id="18" name="Text 16"/>
          <p:cNvSpPr/>
          <p:nvPr/>
        </p:nvSpPr>
        <p:spPr>
          <a:xfrm>
            <a:off x="4940379" y="4514493"/>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Limited or none</a:t>
            </a:r>
            <a:endParaRPr lang="en-US" sz="1750" dirty="0"/>
          </a:p>
        </p:txBody>
      </p:sp>
      <p:sp>
        <p:nvSpPr>
          <p:cNvPr id="19" name="Text 17"/>
          <p:cNvSpPr/>
          <p:nvPr/>
        </p:nvSpPr>
        <p:spPr>
          <a:xfrm>
            <a:off x="9499997" y="4514493"/>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C6E7BD"/>
                </a:solidFill>
                <a:latin typeface="IBM Plex Sans" pitchFamily="34" charset="0"/>
                <a:ea typeface="IBM Plex Sans" pitchFamily="34" charset="-122"/>
                <a:cs typeface="IBM Plex Sans" pitchFamily="34" charset="-120"/>
              </a:rPr>
              <a:t>Complete coverage</a:t>
            </a:r>
            <a:endParaRPr lang="en-US" sz="1750" dirty="0"/>
          </a:p>
        </p:txBody>
      </p:sp>
      <p:sp>
        <p:nvSpPr>
          <p:cNvPr id="20" name="Shape 18"/>
          <p:cNvSpPr/>
          <p:nvPr/>
        </p:nvSpPr>
        <p:spPr>
          <a:xfrm>
            <a:off x="801410" y="5021104"/>
            <a:ext cx="13027581" cy="650319"/>
          </a:xfrm>
          <a:prstGeom prst="rect">
            <a:avLst/>
          </a:prstGeom>
          <a:solidFill>
            <a:srgbClr val="FFFFFF">
              <a:alpha val="4000"/>
            </a:srgbClr>
          </a:solidFill>
          <a:ln/>
        </p:spPr>
      </p:sp>
      <p:sp>
        <p:nvSpPr>
          <p:cNvPr id="21" name="Text 19"/>
          <p:cNvSpPr/>
          <p:nvPr/>
        </p:nvSpPr>
        <p:spPr>
          <a:xfrm>
            <a:off x="1028343" y="5164812"/>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Response Mode</a:t>
            </a:r>
            <a:endParaRPr lang="en-US" sz="1750" dirty="0"/>
          </a:p>
        </p:txBody>
      </p:sp>
      <p:sp>
        <p:nvSpPr>
          <p:cNvPr id="22" name="Text 20"/>
          <p:cNvSpPr/>
          <p:nvPr/>
        </p:nvSpPr>
        <p:spPr>
          <a:xfrm>
            <a:off x="4940379" y="5164812"/>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Passive alerts</a:t>
            </a:r>
            <a:endParaRPr lang="en-US" sz="1750" dirty="0"/>
          </a:p>
        </p:txBody>
      </p:sp>
      <p:sp>
        <p:nvSpPr>
          <p:cNvPr id="23" name="Text 21"/>
          <p:cNvSpPr/>
          <p:nvPr/>
        </p:nvSpPr>
        <p:spPr>
          <a:xfrm>
            <a:off x="9499997" y="5164812"/>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A2B9F9"/>
                </a:solidFill>
                <a:latin typeface="IBM Plex Sans" pitchFamily="34" charset="0"/>
                <a:ea typeface="IBM Plex Sans" pitchFamily="34" charset="-122"/>
                <a:cs typeface="IBM Plex Sans" pitchFamily="34" charset="-120"/>
              </a:rPr>
              <a:t>Automatic mitigation</a:t>
            </a:r>
            <a:endParaRPr lang="en-US" sz="1750" dirty="0"/>
          </a:p>
        </p:txBody>
      </p:sp>
      <p:sp>
        <p:nvSpPr>
          <p:cNvPr id="24" name="Shape 22"/>
          <p:cNvSpPr/>
          <p:nvPr/>
        </p:nvSpPr>
        <p:spPr>
          <a:xfrm>
            <a:off x="801410" y="5671423"/>
            <a:ext cx="13027581" cy="650319"/>
          </a:xfrm>
          <a:prstGeom prst="rect">
            <a:avLst/>
          </a:prstGeom>
          <a:solidFill>
            <a:srgbClr val="000000">
              <a:alpha val="4000"/>
            </a:srgbClr>
          </a:solidFill>
          <a:ln/>
        </p:spPr>
      </p:sp>
      <p:sp>
        <p:nvSpPr>
          <p:cNvPr id="25" name="Text 23"/>
          <p:cNvSpPr/>
          <p:nvPr/>
        </p:nvSpPr>
        <p:spPr>
          <a:xfrm>
            <a:off x="1028343" y="5815132"/>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Zero-Day Protection</a:t>
            </a:r>
            <a:endParaRPr lang="en-US" sz="1750" dirty="0"/>
          </a:p>
        </p:txBody>
      </p:sp>
      <p:sp>
        <p:nvSpPr>
          <p:cNvPr id="26" name="Text 24"/>
          <p:cNvSpPr/>
          <p:nvPr/>
        </p:nvSpPr>
        <p:spPr>
          <a:xfrm>
            <a:off x="4940379" y="5815132"/>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None until patched</a:t>
            </a:r>
            <a:endParaRPr lang="en-US" sz="1750" dirty="0"/>
          </a:p>
        </p:txBody>
      </p:sp>
      <p:sp>
        <p:nvSpPr>
          <p:cNvPr id="27" name="Text 25"/>
          <p:cNvSpPr/>
          <p:nvPr/>
        </p:nvSpPr>
        <p:spPr>
          <a:xfrm>
            <a:off x="9499997" y="5815132"/>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C6E7BD"/>
                </a:solidFill>
                <a:latin typeface="IBM Plex Sans" pitchFamily="34" charset="0"/>
                <a:ea typeface="IBM Plex Sans" pitchFamily="34" charset="-122"/>
                <a:cs typeface="IBM Plex Sans" pitchFamily="34" charset="-120"/>
              </a:rPr>
              <a:t>Real-time detection</a:t>
            </a:r>
            <a:endParaRPr lang="en-US" sz="1750" dirty="0"/>
          </a:p>
        </p:txBody>
      </p:sp>
      <p:sp>
        <p:nvSpPr>
          <p:cNvPr id="28" name="Shape 26"/>
          <p:cNvSpPr/>
          <p:nvPr/>
        </p:nvSpPr>
        <p:spPr>
          <a:xfrm>
            <a:off x="801410" y="6321743"/>
            <a:ext cx="13027581" cy="650319"/>
          </a:xfrm>
          <a:prstGeom prst="rect">
            <a:avLst/>
          </a:prstGeom>
          <a:solidFill>
            <a:srgbClr val="FFFFFF">
              <a:alpha val="4000"/>
            </a:srgbClr>
          </a:solidFill>
          <a:ln/>
        </p:spPr>
      </p:sp>
      <p:sp>
        <p:nvSpPr>
          <p:cNvPr id="29" name="Text 27"/>
          <p:cNvSpPr/>
          <p:nvPr/>
        </p:nvSpPr>
        <p:spPr>
          <a:xfrm>
            <a:off x="1028343" y="6465451"/>
            <a:ext cx="3450788"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Baseline Learning</a:t>
            </a:r>
            <a:endParaRPr lang="en-US" sz="1750" dirty="0"/>
          </a:p>
        </p:txBody>
      </p:sp>
      <p:sp>
        <p:nvSpPr>
          <p:cNvPr id="30" name="Text 28"/>
          <p:cNvSpPr/>
          <p:nvPr/>
        </p:nvSpPr>
        <p:spPr>
          <a:xfrm>
            <a:off x="4940379" y="6465451"/>
            <a:ext cx="4098369" cy="362903"/>
          </a:xfrm>
          <a:prstGeom prst="rect">
            <a:avLst/>
          </a:prstGeom>
          <a:noFill/>
          <a:ln/>
        </p:spPr>
        <p:txBody>
          <a:bodyPr wrap="none" lIns="0" tIns="0" rIns="0" bIns="0" rtlCol="0" anchor="t"/>
          <a:lstStyle/>
          <a:p>
            <a:pPr marL="0" indent="0" algn="l">
              <a:lnSpc>
                <a:spcPts val="2850"/>
              </a:lnSpc>
              <a:buNone/>
            </a:pPr>
            <a:r>
              <a:rPr lang="en-US" sz="1750" dirty="0">
                <a:solidFill>
                  <a:srgbClr val="666666"/>
                </a:solidFill>
                <a:latin typeface="IBM Plex Sans" pitchFamily="34" charset="0"/>
                <a:ea typeface="IBM Plex Sans" pitchFamily="34" charset="-122"/>
                <a:cs typeface="IBM Plex Sans" pitchFamily="34" charset="-120"/>
              </a:rPr>
              <a:t>Manual configuration</a:t>
            </a:r>
            <a:endParaRPr lang="en-US" sz="1750" dirty="0"/>
          </a:p>
        </p:txBody>
      </p:sp>
      <p:sp>
        <p:nvSpPr>
          <p:cNvPr id="31" name="Text 29"/>
          <p:cNvSpPr/>
          <p:nvPr/>
        </p:nvSpPr>
        <p:spPr>
          <a:xfrm>
            <a:off x="9499997" y="6465451"/>
            <a:ext cx="4102179" cy="362903"/>
          </a:xfrm>
          <a:prstGeom prst="rect">
            <a:avLst/>
          </a:prstGeom>
          <a:noFill/>
          <a:ln/>
        </p:spPr>
        <p:txBody>
          <a:bodyPr wrap="none" lIns="0" tIns="0" rIns="0" bIns="0" rtlCol="0" anchor="t"/>
          <a:lstStyle/>
          <a:p>
            <a:pPr marL="0" indent="0" algn="l">
              <a:lnSpc>
                <a:spcPts val="2850"/>
              </a:lnSpc>
              <a:buNone/>
            </a:pPr>
            <a:r>
              <a:rPr lang="en-US" sz="1750" b="1" dirty="0">
                <a:solidFill>
                  <a:srgbClr val="A2B9F9"/>
                </a:solidFill>
                <a:latin typeface="IBM Plex Sans" pitchFamily="34" charset="0"/>
                <a:ea typeface="IBM Plex Sans" pitchFamily="34" charset="-122"/>
                <a:cs typeface="IBM Plex Sans" pitchFamily="34" charset="-120"/>
              </a:rPr>
              <a:t>Auto-adaptive AI</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10327" y="1017151"/>
            <a:ext cx="5116473" cy="634246"/>
          </a:xfrm>
          <a:prstGeom prst="rect">
            <a:avLst/>
          </a:prstGeom>
          <a:noFill/>
          <a:ln/>
        </p:spPr>
        <p:txBody>
          <a:bodyPr wrap="none" lIns="0" tIns="0" rIns="0" bIns="0" rtlCol="0" anchor="t"/>
          <a:lstStyle/>
          <a:p>
            <a:pPr marL="0" indent="0" algn="l">
              <a:lnSpc>
                <a:spcPts val="4950"/>
              </a:lnSpc>
              <a:buNone/>
            </a:pPr>
            <a:r>
              <a:rPr lang="en-US" sz="3950" dirty="0">
                <a:solidFill>
                  <a:srgbClr val="3F6FF3"/>
                </a:solidFill>
                <a:latin typeface="Outfit Medium" pitchFamily="34" charset="0"/>
                <a:ea typeface="Outfit Medium" pitchFamily="34" charset="-122"/>
                <a:cs typeface="Outfit Medium" pitchFamily="34" charset="-120"/>
              </a:rPr>
              <a:t>Live Demo &amp; Roadmap</a:t>
            </a:r>
            <a:endParaRPr lang="en-US" sz="3950" dirty="0"/>
          </a:p>
        </p:txBody>
      </p:sp>
      <p:sp>
        <p:nvSpPr>
          <p:cNvPr id="3" name="Text 1"/>
          <p:cNvSpPr/>
          <p:nvPr/>
        </p:nvSpPr>
        <p:spPr>
          <a:xfrm>
            <a:off x="710327" y="2105263"/>
            <a:ext cx="3044309" cy="380524"/>
          </a:xfrm>
          <a:prstGeom prst="rect">
            <a:avLst/>
          </a:prstGeom>
          <a:noFill/>
          <a:ln/>
        </p:spPr>
        <p:txBody>
          <a:bodyPr wrap="none" lIns="0" tIns="0" rIns="0" bIns="0" rtlCol="0" anchor="t"/>
          <a:lstStyle/>
          <a:p>
            <a:pPr marL="0" indent="0" algn="l">
              <a:lnSpc>
                <a:spcPts val="2950"/>
              </a:lnSpc>
              <a:buNone/>
            </a:pPr>
            <a:r>
              <a:rPr lang="en-US" sz="2350" dirty="0">
                <a:solidFill>
                  <a:srgbClr val="3F6FF3"/>
                </a:solidFill>
                <a:latin typeface="Outfit Medium" pitchFamily="34" charset="0"/>
                <a:ea typeface="Outfit Medium" pitchFamily="34" charset="-122"/>
                <a:cs typeface="Outfit Medium" pitchFamily="34" charset="-120"/>
              </a:rPr>
              <a:t>Demo Overview</a:t>
            </a:r>
            <a:endParaRPr lang="en-US" sz="2350" dirty="0"/>
          </a:p>
        </p:txBody>
      </p:sp>
      <p:sp>
        <p:nvSpPr>
          <p:cNvPr id="4" name="Text 2"/>
          <p:cNvSpPr/>
          <p:nvPr/>
        </p:nvSpPr>
        <p:spPr>
          <a:xfrm>
            <a:off x="710327" y="2667357"/>
            <a:ext cx="6357342" cy="1230630"/>
          </a:xfrm>
          <a:prstGeom prst="rect">
            <a:avLst/>
          </a:prstGeom>
          <a:noFill/>
          <a:ln/>
        </p:spPr>
        <p:txBody>
          <a:bodyPr wrap="square" lIns="0" tIns="0" rIns="0" bIns="0" rtlCol="0" anchor="t"/>
          <a:lstStyle/>
          <a:p>
            <a:pPr marL="0" indent="0" algn="l">
              <a:lnSpc>
                <a:spcPts val="2400"/>
              </a:lnSpc>
              <a:buNone/>
            </a:pPr>
            <a:r>
              <a:rPr lang="en-US" sz="1550" dirty="0">
                <a:solidFill>
                  <a:srgbClr val="666666"/>
                </a:solidFill>
                <a:latin typeface="IBM Plex Sans" pitchFamily="34" charset="0"/>
                <a:ea typeface="IBM Plex Sans" pitchFamily="34" charset="-122"/>
                <a:cs typeface="IBM Plex Sans" pitchFamily="34" charset="-120"/>
              </a:rPr>
              <a:t>Simulated server agents continuously send behavioral telemetry to our AI engine. The processing pipeline analyzes patterns in real-time, and threat alerts appear instantly on the security dashboard with severity classification.</a:t>
            </a:r>
            <a:endParaRPr lang="en-US" sz="1550" dirty="0"/>
          </a:p>
        </p:txBody>
      </p:sp>
      <p:sp>
        <p:nvSpPr>
          <p:cNvPr id="5" name="Text 3"/>
          <p:cNvSpPr/>
          <p:nvPr/>
        </p:nvSpPr>
        <p:spPr>
          <a:xfrm>
            <a:off x="710327" y="4061341"/>
            <a:ext cx="6357342" cy="1421011"/>
          </a:xfrm>
          <a:prstGeom prst="rect">
            <a:avLst/>
          </a:prstGeom>
          <a:noFill/>
          <a:ln/>
        </p:spPr>
        <p:txBody>
          <a:bodyPr wrap="square" lIns="0" tIns="0" rIns="0" bIns="0" rtlCol="0" anchor="t"/>
          <a:lstStyle/>
          <a:p>
            <a:pPr marL="342900" indent="-342900" algn="l">
              <a:lnSpc>
                <a:spcPts val="2400"/>
              </a:lnSpc>
              <a:buSzPct val="100000"/>
              <a:buChar char="•"/>
            </a:pPr>
            <a:r>
              <a:rPr lang="en-US" sz="1550" dirty="0">
                <a:solidFill>
                  <a:srgbClr val="666666"/>
                </a:solidFill>
                <a:latin typeface="IBM Plex Sans" pitchFamily="34" charset="0"/>
                <a:ea typeface="IBM Plex Sans" pitchFamily="34" charset="-122"/>
                <a:cs typeface="IBM Plex Sans" pitchFamily="34" charset="-120"/>
              </a:rPr>
              <a:t>Real-time telemetry streaming</a:t>
            </a:r>
            <a:endParaRPr lang="en-US" sz="1550" dirty="0"/>
          </a:p>
          <a:p>
            <a:pPr marL="342900" indent="-342900" algn="l">
              <a:lnSpc>
                <a:spcPts val="2400"/>
              </a:lnSpc>
              <a:buSzPct val="100000"/>
              <a:buChar char="•"/>
            </a:pPr>
            <a:r>
              <a:rPr lang="en-US" sz="1550" dirty="0">
                <a:solidFill>
                  <a:srgbClr val="666666"/>
                </a:solidFill>
                <a:latin typeface="IBM Plex Sans" pitchFamily="34" charset="0"/>
                <a:ea typeface="IBM Plex Sans" pitchFamily="34" charset="-122"/>
                <a:cs typeface="IBM Plex Sans" pitchFamily="34" charset="-120"/>
              </a:rPr>
              <a:t>Live anomaly detection</a:t>
            </a:r>
            <a:endParaRPr lang="en-US" sz="1550" dirty="0"/>
          </a:p>
          <a:p>
            <a:pPr marL="342900" indent="-342900" algn="l">
              <a:lnSpc>
                <a:spcPts val="2400"/>
              </a:lnSpc>
              <a:buSzPct val="100000"/>
              <a:buChar char="•"/>
            </a:pPr>
            <a:r>
              <a:rPr lang="en-US" sz="1550" dirty="0">
                <a:solidFill>
                  <a:srgbClr val="666666"/>
                </a:solidFill>
                <a:latin typeface="IBM Plex Sans" pitchFamily="34" charset="0"/>
                <a:ea typeface="IBM Plex Sans" pitchFamily="34" charset="-122"/>
                <a:cs typeface="IBM Plex Sans" pitchFamily="34" charset="-120"/>
              </a:rPr>
              <a:t>Interactive dashboard</a:t>
            </a:r>
            <a:endParaRPr lang="en-US" sz="1550" dirty="0"/>
          </a:p>
          <a:p>
            <a:pPr marL="342900" indent="-342900" algn="l">
              <a:lnSpc>
                <a:spcPts val="2400"/>
              </a:lnSpc>
              <a:buSzPct val="100000"/>
              <a:buChar char="•"/>
            </a:pPr>
            <a:r>
              <a:rPr lang="en-US" sz="1550" dirty="0">
                <a:solidFill>
                  <a:srgbClr val="666666"/>
                </a:solidFill>
                <a:latin typeface="IBM Plex Sans" pitchFamily="34" charset="0"/>
                <a:ea typeface="IBM Plex Sans" pitchFamily="34" charset="-122"/>
                <a:cs typeface="IBM Plex Sans" pitchFamily="34" charset="-120"/>
              </a:rPr>
              <a:t>Automated response simulation</a:t>
            </a:r>
            <a:endParaRPr lang="en-US" sz="1550" dirty="0"/>
          </a:p>
        </p:txBody>
      </p:sp>
      <p:sp>
        <p:nvSpPr>
          <p:cNvPr id="6" name="Text 4"/>
          <p:cNvSpPr/>
          <p:nvPr/>
        </p:nvSpPr>
        <p:spPr>
          <a:xfrm>
            <a:off x="7570351" y="2105263"/>
            <a:ext cx="3044309" cy="380524"/>
          </a:xfrm>
          <a:prstGeom prst="rect">
            <a:avLst/>
          </a:prstGeom>
          <a:noFill/>
          <a:ln/>
        </p:spPr>
        <p:txBody>
          <a:bodyPr wrap="none" lIns="0" tIns="0" rIns="0" bIns="0" rtlCol="0" anchor="t"/>
          <a:lstStyle/>
          <a:p>
            <a:pPr marL="0" indent="0" algn="l">
              <a:lnSpc>
                <a:spcPts val="2950"/>
              </a:lnSpc>
              <a:buNone/>
            </a:pPr>
            <a:r>
              <a:rPr lang="en-US" sz="2350" dirty="0">
                <a:solidFill>
                  <a:srgbClr val="3F6FF3"/>
                </a:solidFill>
                <a:latin typeface="Outfit Medium" pitchFamily="34" charset="0"/>
                <a:ea typeface="Outfit Medium" pitchFamily="34" charset="-122"/>
                <a:cs typeface="Outfit Medium" pitchFamily="34" charset="-120"/>
              </a:rPr>
              <a:t>Future Roadmap</a:t>
            </a:r>
            <a:endParaRPr lang="en-US" sz="2350" dirty="0"/>
          </a:p>
        </p:txBody>
      </p:sp>
      <p:sp>
        <p:nvSpPr>
          <p:cNvPr id="7" name="Shape 5"/>
          <p:cNvSpPr/>
          <p:nvPr/>
        </p:nvSpPr>
        <p:spPr>
          <a:xfrm>
            <a:off x="7773233" y="2994303"/>
            <a:ext cx="202883" cy="1215271"/>
          </a:xfrm>
          <a:prstGeom prst="roundRect">
            <a:avLst>
              <a:gd name="adj" fmla="val 90035"/>
            </a:avLst>
          </a:prstGeom>
          <a:solidFill>
            <a:srgbClr val="CFDBFC"/>
          </a:solidFill>
          <a:ln w="7620">
            <a:solidFill>
              <a:srgbClr val="B5C1E2"/>
            </a:solidFill>
            <a:prstDash val="solid"/>
          </a:ln>
          <a:effectLst>
            <a:outerShdw dist="17780" dir="2700000" algn="bl" rotWithShape="0">
              <a:srgbClr val="B5C1E2">
                <a:alpha val="100000"/>
              </a:srgbClr>
            </a:outerShdw>
          </a:effectLst>
        </p:spPr>
      </p:sp>
      <p:sp>
        <p:nvSpPr>
          <p:cNvPr id="8" name="Shape 6"/>
          <p:cNvSpPr/>
          <p:nvPr/>
        </p:nvSpPr>
        <p:spPr>
          <a:xfrm>
            <a:off x="7570351" y="2861191"/>
            <a:ext cx="608767" cy="608767"/>
          </a:xfrm>
          <a:prstGeom prst="roundRect">
            <a:avLst>
              <a:gd name="adj" fmla="val 75103"/>
            </a:avLst>
          </a:prstGeom>
          <a:solidFill>
            <a:srgbClr val="CFDBFC"/>
          </a:solidFill>
          <a:ln w="7620">
            <a:solidFill>
              <a:srgbClr val="B5C1E2"/>
            </a:solidFill>
            <a:prstDash val="solid"/>
          </a:ln>
          <a:effectLst>
            <a:outerShdw dist="17780" dir="2700000" algn="bl" rotWithShape="0">
              <a:srgbClr val="B5C1E2">
                <a:alpha val="100000"/>
              </a:srgbClr>
            </a:outerShdw>
          </a:effectLst>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22513" y="3013472"/>
            <a:ext cx="304324" cy="304324"/>
          </a:xfrm>
          <a:prstGeom prst="rect">
            <a:avLst/>
          </a:prstGeom>
        </p:spPr>
      </p:pic>
      <p:sp>
        <p:nvSpPr>
          <p:cNvPr id="10" name="Text 7"/>
          <p:cNvSpPr/>
          <p:nvPr/>
        </p:nvSpPr>
        <p:spPr>
          <a:xfrm>
            <a:off x="8360688" y="2892862"/>
            <a:ext cx="2536984" cy="317063"/>
          </a:xfrm>
          <a:prstGeom prst="rect">
            <a:avLst/>
          </a:prstGeom>
          <a:noFill/>
          <a:ln/>
        </p:spPr>
        <p:txBody>
          <a:bodyPr wrap="none" lIns="0" tIns="0" rIns="0" bIns="0" rtlCol="0" anchor="t"/>
          <a:lstStyle/>
          <a:p>
            <a:pPr marL="0" indent="0" algn="l">
              <a:lnSpc>
                <a:spcPts val="2450"/>
              </a:lnSpc>
              <a:buNone/>
            </a:pPr>
            <a:r>
              <a:rPr lang="en-US" sz="1950" dirty="0">
                <a:solidFill>
                  <a:srgbClr val="666666"/>
                </a:solidFill>
                <a:latin typeface="Outfit Medium" pitchFamily="34" charset="0"/>
                <a:ea typeface="Outfit Medium" pitchFamily="34" charset="-122"/>
                <a:cs typeface="Outfit Medium" pitchFamily="34" charset="-120"/>
              </a:rPr>
              <a:t>Phase 1</a:t>
            </a:r>
            <a:endParaRPr lang="en-US" sz="1950" dirty="0"/>
          </a:p>
        </p:txBody>
      </p:sp>
      <p:sp>
        <p:nvSpPr>
          <p:cNvPr id="11" name="Text 8"/>
          <p:cNvSpPr/>
          <p:nvPr/>
        </p:nvSpPr>
        <p:spPr>
          <a:xfrm>
            <a:off x="8360688" y="3391495"/>
            <a:ext cx="5567005" cy="615315"/>
          </a:xfrm>
          <a:prstGeom prst="rect">
            <a:avLst/>
          </a:prstGeom>
          <a:noFill/>
          <a:ln/>
        </p:spPr>
        <p:txBody>
          <a:bodyPr wrap="square" lIns="0" tIns="0" rIns="0" bIns="0" rtlCol="0" anchor="t"/>
          <a:lstStyle/>
          <a:p>
            <a:pPr marL="0" indent="0" algn="l">
              <a:lnSpc>
                <a:spcPts val="2400"/>
              </a:lnSpc>
              <a:buNone/>
            </a:pPr>
            <a:r>
              <a:rPr lang="en-US" sz="1550" dirty="0">
                <a:solidFill>
                  <a:srgbClr val="666666"/>
                </a:solidFill>
                <a:latin typeface="IBM Plex Sans" pitchFamily="34" charset="0"/>
                <a:ea typeface="IBM Plex Sans" pitchFamily="34" charset="-122"/>
                <a:cs typeface="IBM Plex Sans" pitchFamily="34" charset="-120"/>
              </a:rPr>
              <a:t>Production eBPF kernel telemetry agents in C/Rust for enhanced performance</a:t>
            </a:r>
            <a:endParaRPr lang="en-US" sz="1550" dirty="0"/>
          </a:p>
        </p:txBody>
      </p:sp>
      <p:sp>
        <p:nvSpPr>
          <p:cNvPr id="12" name="Shape 9"/>
          <p:cNvSpPr/>
          <p:nvPr/>
        </p:nvSpPr>
        <p:spPr>
          <a:xfrm>
            <a:off x="8077557" y="4695587"/>
            <a:ext cx="202883" cy="913209"/>
          </a:xfrm>
          <a:prstGeom prst="roundRect">
            <a:avLst>
              <a:gd name="adj" fmla="val 90035"/>
            </a:avLst>
          </a:prstGeom>
          <a:solidFill>
            <a:srgbClr val="CFDBFC"/>
          </a:solidFill>
          <a:ln w="7620">
            <a:solidFill>
              <a:srgbClr val="B5C1E2"/>
            </a:solidFill>
            <a:prstDash val="solid"/>
          </a:ln>
          <a:effectLst>
            <a:outerShdw dist="17780" dir="2700000" algn="bl" rotWithShape="0">
              <a:srgbClr val="B5C1E2">
                <a:alpha val="100000"/>
              </a:srgbClr>
            </a:outerShdw>
          </a:effectLst>
        </p:spPr>
      </p:sp>
      <p:sp>
        <p:nvSpPr>
          <p:cNvPr id="13" name="Shape 10"/>
          <p:cNvSpPr/>
          <p:nvPr/>
        </p:nvSpPr>
        <p:spPr>
          <a:xfrm>
            <a:off x="7874675" y="4562475"/>
            <a:ext cx="608767" cy="608767"/>
          </a:xfrm>
          <a:prstGeom prst="roundRect">
            <a:avLst>
              <a:gd name="adj" fmla="val 75103"/>
            </a:avLst>
          </a:prstGeom>
          <a:solidFill>
            <a:srgbClr val="CFDBFC"/>
          </a:solidFill>
          <a:ln w="7620">
            <a:solidFill>
              <a:srgbClr val="B5C1E2"/>
            </a:solidFill>
            <a:prstDash val="solid"/>
          </a:ln>
          <a:effectLst>
            <a:outerShdw dist="17780" dir="2700000" algn="bl" rotWithShape="0">
              <a:srgbClr val="B5C1E2">
                <a:alpha val="100000"/>
              </a:srgbClr>
            </a:outerShdw>
          </a:effectLst>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26837" y="4714756"/>
            <a:ext cx="304324" cy="304324"/>
          </a:xfrm>
          <a:prstGeom prst="rect">
            <a:avLst/>
          </a:prstGeom>
        </p:spPr>
      </p:pic>
      <p:sp>
        <p:nvSpPr>
          <p:cNvPr id="15" name="Text 11"/>
          <p:cNvSpPr/>
          <p:nvPr/>
        </p:nvSpPr>
        <p:spPr>
          <a:xfrm>
            <a:off x="8665012" y="4594146"/>
            <a:ext cx="2536984" cy="317063"/>
          </a:xfrm>
          <a:prstGeom prst="rect">
            <a:avLst/>
          </a:prstGeom>
          <a:noFill/>
          <a:ln/>
        </p:spPr>
        <p:txBody>
          <a:bodyPr wrap="none" lIns="0" tIns="0" rIns="0" bIns="0" rtlCol="0" anchor="t"/>
          <a:lstStyle/>
          <a:p>
            <a:pPr marL="0" indent="0" algn="l">
              <a:lnSpc>
                <a:spcPts val="2450"/>
              </a:lnSpc>
              <a:buNone/>
            </a:pPr>
            <a:r>
              <a:rPr lang="en-US" sz="1950" dirty="0">
                <a:solidFill>
                  <a:srgbClr val="666666"/>
                </a:solidFill>
                <a:latin typeface="Outfit Medium" pitchFamily="34" charset="0"/>
                <a:ea typeface="Outfit Medium" pitchFamily="34" charset="-122"/>
                <a:cs typeface="Outfit Medium" pitchFamily="34" charset="-120"/>
              </a:rPr>
              <a:t>Phase 2</a:t>
            </a:r>
            <a:endParaRPr lang="en-US" sz="1950" dirty="0"/>
          </a:p>
        </p:txBody>
      </p:sp>
      <p:sp>
        <p:nvSpPr>
          <p:cNvPr id="16" name="Text 12"/>
          <p:cNvSpPr/>
          <p:nvPr/>
        </p:nvSpPr>
        <p:spPr>
          <a:xfrm>
            <a:off x="8665012" y="5092779"/>
            <a:ext cx="5262682" cy="307658"/>
          </a:xfrm>
          <a:prstGeom prst="rect">
            <a:avLst/>
          </a:prstGeom>
          <a:noFill/>
          <a:ln/>
        </p:spPr>
        <p:txBody>
          <a:bodyPr wrap="none" lIns="0" tIns="0" rIns="0" bIns="0" rtlCol="0" anchor="t"/>
          <a:lstStyle/>
          <a:p>
            <a:pPr marL="0" indent="0" algn="l">
              <a:lnSpc>
                <a:spcPts val="2400"/>
              </a:lnSpc>
              <a:buNone/>
            </a:pPr>
            <a:r>
              <a:rPr lang="en-US" sz="1550" dirty="0">
                <a:solidFill>
                  <a:srgbClr val="666666"/>
                </a:solidFill>
                <a:latin typeface="IBM Plex Sans" pitchFamily="34" charset="0"/>
                <a:ea typeface="IBM Plex Sans" pitchFamily="34" charset="-122"/>
                <a:cs typeface="IBM Plex Sans" pitchFamily="34" charset="-120"/>
              </a:rPr>
              <a:t>Enterprise-scale AI training on diverse threat datasets</a:t>
            </a:r>
            <a:endParaRPr lang="en-US" sz="1550" dirty="0"/>
          </a:p>
        </p:txBody>
      </p:sp>
      <p:sp>
        <p:nvSpPr>
          <p:cNvPr id="17" name="Shape 13"/>
          <p:cNvSpPr/>
          <p:nvPr/>
        </p:nvSpPr>
        <p:spPr>
          <a:xfrm>
            <a:off x="8382000" y="6094809"/>
            <a:ext cx="202883" cy="913209"/>
          </a:xfrm>
          <a:prstGeom prst="roundRect">
            <a:avLst>
              <a:gd name="adj" fmla="val 90035"/>
            </a:avLst>
          </a:prstGeom>
          <a:solidFill>
            <a:srgbClr val="CFDBFC"/>
          </a:solidFill>
          <a:ln w="7620">
            <a:solidFill>
              <a:srgbClr val="B5C1E2"/>
            </a:solidFill>
            <a:prstDash val="solid"/>
          </a:ln>
          <a:effectLst>
            <a:outerShdw dist="17780" dir="2700000" algn="bl" rotWithShape="0">
              <a:srgbClr val="B5C1E2">
                <a:alpha val="100000"/>
              </a:srgbClr>
            </a:outerShdw>
          </a:effectLst>
        </p:spPr>
      </p:sp>
      <p:sp>
        <p:nvSpPr>
          <p:cNvPr id="18" name="Shape 14"/>
          <p:cNvSpPr/>
          <p:nvPr/>
        </p:nvSpPr>
        <p:spPr>
          <a:xfrm>
            <a:off x="8179118" y="5961698"/>
            <a:ext cx="608767" cy="608767"/>
          </a:xfrm>
          <a:prstGeom prst="roundRect">
            <a:avLst>
              <a:gd name="adj" fmla="val 75103"/>
            </a:avLst>
          </a:prstGeom>
          <a:solidFill>
            <a:srgbClr val="CFDBFC"/>
          </a:solidFill>
          <a:ln w="7620">
            <a:solidFill>
              <a:srgbClr val="B5C1E2"/>
            </a:solidFill>
            <a:prstDash val="solid"/>
          </a:ln>
          <a:effectLst>
            <a:outerShdw dist="17780" dir="2700000" algn="bl" rotWithShape="0">
              <a:srgbClr val="B5C1E2">
                <a:alpha val="100000"/>
              </a:srgbClr>
            </a:outerShdw>
          </a:effectLst>
        </p:spPr>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31279" y="6113978"/>
            <a:ext cx="304324" cy="304324"/>
          </a:xfrm>
          <a:prstGeom prst="rect">
            <a:avLst/>
          </a:prstGeom>
        </p:spPr>
      </p:pic>
      <p:sp>
        <p:nvSpPr>
          <p:cNvPr id="20" name="Text 15"/>
          <p:cNvSpPr/>
          <p:nvPr/>
        </p:nvSpPr>
        <p:spPr>
          <a:xfrm>
            <a:off x="8969454" y="5993368"/>
            <a:ext cx="2536984" cy="317063"/>
          </a:xfrm>
          <a:prstGeom prst="rect">
            <a:avLst/>
          </a:prstGeom>
          <a:noFill/>
          <a:ln/>
        </p:spPr>
        <p:txBody>
          <a:bodyPr wrap="none" lIns="0" tIns="0" rIns="0" bIns="0" rtlCol="0" anchor="t"/>
          <a:lstStyle/>
          <a:p>
            <a:pPr marL="0" indent="0" algn="l">
              <a:lnSpc>
                <a:spcPts val="2450"/>
              </a:lnSpc>
              <a:buNone/>
            </a:pPr>
            <a:r>
              <a:rPr lang="en-US" sz="1950" dirty="0">
                <a:solidFill>
                  <a:srgbClr val="666666"/>
                </a:solidFill>
                <a:latin typeface="Outfit Medium" pitchFamily="34" charset="0"/>
                <a:ea typeface="Outfit Medium" pitchFamily="34" charset="-122"/>
                <a:cs typeface="Outfit Medium" pitchFamily="34" charset="-120"/>
              </a:rPr>
              <a:t>Phase 3</a:t>
            </a:r>
            <a:endParaRPr lang="en-US" sz="1950" dirty="0"/>
          </a:p>
        </p:txBody>
      </p:sp>
      <p:sp>
        <p:nvSpPr>
          <p:cNvPr id="21" name="Text 16"/>
          <p:cNvSpPr/>
          <p:nvPr/>
        </p:nvSpPr>
        <p:spPr>
          <a:xfrm>
            <a:off x="8969454" y="6492002"/>
            <a:ext cx="4958239" cy="307658"/>
          </a:xfrm>
          <a:prstGeom prst="rect">
            <a:avLst/>
          </a:prstGeom>
          <a:noFill/>
          <a:ln/>
        </p:spPr>
        <p:txBody>
          <a:bodyPr wrap="none" lIns="0" tIns="0" rIns="0" bIns="0" rtlCol="0" anchor="t"/>
          <a:lstStyle/>
          <a:p>
            <a:pPr marL="0" indent="0" algn="l">
              <a:lnSpc>
                <a:spcPts val="2400"/>
              </a:lnSpc>
              <a:buNone/>
            </a:pPr>
            <a:r>
              <a:rPr lang="en-US" sz="1550" dirty="0">
                <a:solidFill>
                  <a:srgbClr val="666666"/>
                </a:solidFill>
                <a:latin typeface="IBM Plex Sans" pitchFamily="34" charset="0"/>
                <a:ea typeface="IBM Plex Sans" pitchFamily="34" charset="-122"/>
                <a:cs typeface="IBM Plex Sans" pitchFamily="34" charset="-120"/>
              </a:rPr>
              <a:t>Federated learning across global security networks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12338" y="796885"/>
            <a:ext cx="5427107" cy="546735"/>
          </a:xfrm>
          <a:prstGeom prst="rect">
            <a:avLst/>
          </a:prstGeom>
          <a:noFill/>
          <a:ln/>
        </p:spPr>
        <p:txBody>
          <a:bodyPr wrap="none" lIns="0" tIns="0" rIns="0" bIns="0" rtlCol="0" anchor="t"/>
          <a:lstStyle/>
          <a:p>
            <a:pPr marL="0" indent="0" algn="l">
              <a:lnSpc>
                <a:spcPts val="4300"/>
              </a:lnSpc>
              <a:buNone/>
            </a:pPr>
            <a:r>
              <a:rPr lang="en-US" sz="3400" dirty="0">
                <a:solidFill>
                  <a:srgbClr val="3F6FF3"/>
                </a:solidFill>
                <a:latin typeface="Outfit Medium" pitchFamily="34" charset="0"/>
                <a:ea typeface="Outfit Medium" pitchFamily="34" charset="-122"/>
                <a:cs typeface="Outfit Medium" pitchFamily="34" charset="-120"/>
              </a:rPr>
              <a:t>Transforming Cybersecurity</a:t>
            </a:r>
            <a:endParaRPr lang="en-US" sz="3400" dirty="0"/>
          </a:p>
        </p:txBody>
      </p:sp>
      <p:sp>
        <p:nvSpPr>
          <p:cNvPr id="4" name="Shape 1"/>
          <p:cNvSpPr/>
          <p:nvPr/>
        </p:nvSpPr>
        <p:spPr>
          <a:xfrm>
            <a:off x="612338" y="1546027"/>
            <a:ext cx="7919323" cy="967383"/>
          </a:xfrm>
          <a:prstGeom prst="roundRect">
            <a:avLst>
              <a:gd name="adj" fmla="val 16279"/>
            </a:avLst>
          </a:prstGeom>
          <a:solidFill>
            <a:srgbClr val="CFDBFC"/>
          </a:solidFill>
          <a:ln w="7620">
            <a:solidFill>
              <a:srgbClr val="B5C1E2"/>
            </a:solidFill>
            <a:prstDash val="solid"/>
          </a:ln>
          <a:effectLst>
            <a:outerShdw dist="15240" dir="2700000" algn="bl" rotWithShape="0">
              <a:srgbClr val="B5C1E2">
                <a:alpha val="100000"/>
              </a:srgbClr>
            </a:outerShdw>
          </a:effectLst>
        </p:spPr>
      </p:sp>
      <p:sp>
        <p:nvSpPr>
          <p:cNvPr id="5" name="Text 2"/>
          <p:cNvSpPr/>
          <p:nvPr/>
        </p:nvSpPr>
        <p:spPr>
          <a:xfrm>
            <a:off x="794861" y="1728549"/>
            <a:ext cx="2626281" cy="273368"/>
          </a:xfrm>
          <a:prstGeom prst="rect">
            <a:avLst/>
          </a:prstGeom>
          <a:noFill/>
          <a:ln/>
        </p:spPr>
        <p:txBody>
          <a:bodyPr wrap="none" lIns="0" tIns="0" rIns="0" bIns="0" rtlCol="0" anchor="t"/>
          <a:lstStyle/>
          <a:p>
            <a:pPr marL="0" indent="0" algn="l">
              <a:lnSpc>
                <a:spcPts val="2150"/>
              </a:lnSpc>
              <a:buNone/>
            </a:pPr>
            <a:r>
              <a:rPr lang="en-US" sz="1700" dirty="0">
                <a:solidFill>
                  <a:srgbClr val="000000"/>
                </a:solidFill>
                <a:latin typeface="Outfit Medium" pitchFamily="34" charset="0"/>
                <a:ea typeface="Outfit Medium" pitchFamily="34" charset="-122"/>
                <a:cs typeface="Outfit Medium" pitchFamily="34" charset="-120"/>
              </a:rPr>
              <a:t>Faster Zero-Day Detection</a:t>
            </a:r>
            <a:endParaRPr lang="en-US" sz="1700" dirty="0"/>
          </a:p>
        </p:txBody>
      </p:sp>
      <p:sp>
        <p:nvSpPr>
          <p:cNvPr id="6" name="Text 3"/>
          <p:cNvSpPr/>
          <p:nvPr/>
        </p:nvSpPr>
        <p:spPr>
          <a:xfrm>
            <a:off x="794861" y="2082879"/>
            <a:ext cx="7554278" cy="248007"/>
          </a:xfrm>
          <a:prstGeom prst="rect">
            <a:avLst/>
          </a:prstGeom>
          <a:noFill/>
          <a:ln/>
        </p:spPr>
        <p:txBody>
          <a:bodyPr wrap="none" lIns="0" tIns="0" rIns="0" bIns="0" rtlCol="0" anchor="t"/>
          <a:lstStyle/>
          <a:p>
            <a:pPr marL="0" indent="0" algn="l">
              <a:lnSpc>
                <a:spcPts val="1950"/>
              </a:lnSpc>
              <a:buNone/>
            </a:pPr>
            <a:r>
              <a:rPr lang="en-US" sz="1350" dirty="0">
                <a:solidFill>
                  <a:srgbClr val="000000"/>
                </a:solidFill>
                <a:latin typeface="IBM Plex Sans" pitchFamily="34" charset="0"/>
                <a:ea typeface="IBM Plex Sans" pitchFamily="34" charset="-122"/>
                <a:cs typeface="IBM Plex Sans" pitchFamily="34" charset="-120"/>
              </a:rPr>
              <a:t>Real-time identification of unknown threats before damage occurs</a:t>
            </a:r>
            <a:endParaRPr lang="en-US" sz="1350" dirty="0"/>
          </a:p>
        </p:txBody>
      </p:sp>
      <p:sp>
        <p:nvSpPr>
          <p:cNvPr id="7" name="Shape 4"/>
          <p:cNvSpPr/>
          <p:nvPr/>
        </p:nvSpPr>
        <p:spPr>
          <a:xfrm>
            <a:off x="612338" y="2648307"/>
            <a:ext cx="7919323" cy="967383"/>
          </a:xfrm>
          <a:prstGeom prst="roundRect">
            <a:avLst>
              <a:gd name="adj" fmla="val 16279"/>
            </a:avLst>
          </a:prstGeom>
          <a:solidFill>
            <a:srgbClr val="CFDBFC"/>
          </a:solidFill>
          <a:ln w="7620">
            <a:solidFill>
              <a:srgbClr val="B5C1E2"/>
            </a:solidFill>
            <a:prstDash val="solid"/>
          </a:ln>
          <a:effectLst>
            <a:outerShdw dist="15240" dir="2700000" algn="bl" rotWithShape="0">
              <a:srgbClr val="B5C1E2">
                <a:alpha val="100000"/>
              </a:srgbClr>
            </a:outerShdw>
          </a:effectLst>
        </p:spPr>
      </p:sp>
      <p:sp>
        <p:nvSpPr>
          <p:cNvPr id="8" name="Text 5"/>
          <p:cNvSpPr/>
          <p:nvPr/>
        </p:nvSpPr>
        <p:spPr>
          <a:xfrm>
            <a:off x="794861" y="2830830"/>
            <a:ext cx="2187178" cy="273368"/>
          </a:xfrm>
          <a:prstGeom prst="rect">
            <a:avLst/>
          </a:prstGeom>
          <a:noFill/>
          <a:ln/>
        </p:spPr>
        <p:txBody>
          <a:bodyPr wrap="none" lIns="0" tIns="0" rIns="0" bIns="0" rtlCol="0" anchor="t"/>
          <a:lstStyle/>
          <a:p>
            <a:pPr marL="0" indent="0" algn="l">
              <a:lnSpc>
                <a:spcPts val="2150"/>
              </a:lnSpc>
              <a:buNone/>
            </a:pPr>
            <a:r>
              <a:rPr lang="en-US" sz="1700" dirty="0">
                <a:solidFill>
                  <a:srgbClr val="000000"/>
                </a:solidFill>
                <a:latin typeface="Outfit Medium" pitchFamily="34" charset="0"/>
                <a:ea typeface="Outfit Medium" pitchFamily="34" charset="-122"/>
                <a:cs typeface="Outfit Medium" pitchFamily="34" charset="-120"/>
              </a:rPr>
              <a:t>Proactive Defense</a:t>
            </a:r>
            <a:endParaRPr lang="en-US" sz="1700" dirty="0"/>
          </a:p>
        </p:txBody>
      </p:sp>
      <p:sp>
        <p:nvSpPr>
          <p:cNvPr id="9" name="Text 6"/>
          <p:cNvSpPr/>
          <p:nvPr/>
        </p:nvSpPr>
        <p:spPr>
          <a:xfrm>
            <a:off x="794861" y="3185160"/>
            <a:ext cx="7554278" cy="248007"/>
          </a:xfrm>
          <a:prstGeom prst="rect">
            <a:avLst/>
          </a:prstGeom>
          <a:noFill/>
          <a:ln/>
        </p:spPr>
        <p:txBody>
          <a:bodyPr wrap="none" lIns="0" tIns="0" rIns="0" bIns="0" rtlCol="0" anchor="t"/>
          <a:lstStyle/>
          <a:p>
            <a:pPr marL="0" indent="0" algn="l">
              <a:lnSpc>
                <a:spcPts val="1950"/>
              </a:lnSpc>
              <a:buNone/>
            </a:pPr>
            <a:r>
              <a:rPr lang="en-US" sz="1350" dirty="0">
                <a:solidFill>
                  <a:srgbClr val="000000"/>
                </a:solidFill>
                <a:latin typeface="IBM Plex Sans" pitchFamily="34" charset="0"/>
                <a:ea typeface="IBM Plex Sans" pitchFamily="34" charset="-122"/>
                <a:cs typeface="IBM Plex Sans" pitchFamily="34" charset="-120"/>
              </a:rPr>
              <a:t>Prevent exploitation rather than react to breaches</a:t>
            </a:r>
            <a:endParaRPr lang="en-US" sz="1350" dirty="0"/>
          </a:p>
        </p:txBody>
      </p:sp>
      <p:sp>
        <p:nvSpPr>
          <p:cNvPr id="10" name="Shape 7"/>
          <p:cNvSpPr/>
          <p:nvPr/>
        </p:nvSpPr>
        <p:spPr>
          <a:xfrm>
            <a:off x="612338" y="3750588"/>
            <a:ext cx="7919323" cy="967383"/>
          </a:xfrm>
          <a:prstGeom prst="roundRect">
            <a:avLst>
              <a:gd name="adj" fmla="val 16279"/>
            </a:avLst>
          </a:prstGeom>
          <a:solidFill>
            <a:srgbClr val="CFDBFC"/>
          </a:solidFill>
          <a:ln w="7620">
            <a:solidFill>
              <a:srgbClr val="B5C1E2"/>
            </a:solidFill>
            <a:prstDash val="solid"/>
          </a:ln>
          <a:effectLst>
            <a:outerShdw dist="15240" dir="2700000" algn="bl" rotWithShape="0">
              <a:srgbClr val="B5C1E2">
                <a:alpha val="100000"/>
              </a:srgbClr>
            </a:outerShdw>
          </a:effectLst>
        </p:spPr>
      </p:sp>
      <p:sp>
        <p:nvSpPr>
          <p:cNvPr id="11" name="Text 8"/>
          <p:cNvSpPr/>
          <p:nvPr/>
        </p:nvSpPr>
        <p:spPr>
          <a:xfrm>
            <a:off x="794861" y="3933111"/>
            <a:ext cx="2187178" cy="273368"/>
          </a:xfrm>
          <a:prstGeom prst="rect">
            <a:avLst/>
          </a:prstGeom>
          <a:noFill/>
          <a:ln/>
        </p:spPr>
        <p:txBody>
          <a:bodyPr wrap="none" lIns="0" tIns="0" rIns="0" bIns="0" rtlCol="0" anchor="t"/>
          <a:lstStyle/>
          <a:p>
            <a:pPr marL="0" indent="0" algn="l">
              <a:lnSpc>
                <a:spcPts val="2150"/>
              </a:lnSpc>
              <a:buNone/>
            </a:pPr>
            <a:r>
              <a:rPr lang="en-US" sz="1700" dirty="0">
                <a:solidFill>
                  <a:srgbClr val="000000"/>
                </a:solidFill>
                <a:latin typeface="Outfit Medium" pitchFamily="34" charset="0"/>
                <a:ea typeface="Outfit Medium" pitchFamily="34" charset="-122"/>
                <a:cs typeface="Outfit Medium" pitchFamily="34" charset="-120"/>
              </a:rPr>
              <a:t>Enterprise Scalability</a:t>
            </a:r>
            <a:endParaRPr lang="en-US" sz="1700" dirty="0"/>
          </a:p>
        </p:txBody>
      </p:sp>
      <p:sp>
        <p:nvSpPr>
          <p:cNvPr id="12" name="Text 9"/>
          <p:cNvSpPr/>
          <p:nvPr/>
        </p:nvSpPr>
        <p:spPr>
          <a:xfrm>
            <a:off x="794861" y="4287441"/>
            <a:ext cx="7554278" cy="248007"/>
          </a:xfrm>
          <a:prstGeom prst="rect">
            <a:avLst/>
          </a:prstGeom>
          <a:noFill/>
          <a:ln/>
        </p:spPr>
        <p:txBody>
          <a:bodyPr wrap="none" lIns="0" tIns="0" rIns="0" bIns="0" rtlCol="0" anchor="t"/>
          <a:lstStyle/>
          <a:p>
            <a:pPr marL="0" indent="0" algn="l">
              <a:lnSpc>
                <a:spcPts val="1950"/>
              </a:lnSpc>
              <a:buNone/>
            </a:pPr>
            <a:r>
              <a:rPr lang="en-US" sz="1350" dirty="0">
                <a:solidFill>
                  <a:srgbClr val="000000"/>
                </a:solidFill>
                <a:latin typeface="IBM Plex Sans" pitchFamily="34" charset="0"/>
                <a:ea typeface="IBM Plex Sans" pitchFamily="34" charset="-122"/>
                <a:cs typeface="IBM Plex Sans" pitchFamily="34" charset="-120"/>
              </a:rPr>
              <a:t>Distributed architecture handles thousands of servers simultaneously</a:t>
            </a:r>
            <a:endParaRPr lang="en-US" sz="1350" dirty="0"/>
          </a:p>
        </p:txBody>
      </p:sp>
      <p:sp>
        <p:nvSpPr>
          <p:cNvPr id="13" name="Shape 10"/>
          <p:cNvSpPr/>
          <p:nvPr/>
        </p:nvSpPr>
        <p:spPr>
          <a:xfrm>
            <a:off x="612338" y="4852868"/>
            <a:ext cx="7919323" cy="967383"/>
          </a:xfrm>
          <a:prstGeom prst="roundRect">
            <a:avLst>
              <a:gd name="adj" fmla="val 16279"/>
            </a:avLst>
          </a:prstGeom>
          <a:solidFill>
            <a:srgbClr val="CFDBFC"/>
          </a:solidFill>
          <a:ln w="7620">
            <a:solidFill>
              <a:srgbClr val="B5C1E2"/>
            </a:solidFill>
            <a:prstDash val="solid"/>
          </a:ln>
          <a:effectLst>
            <a:outerShdw dist="15240" dir="2700000" algn="bl" rotWithShape="0">
              <a:srgbClr val="B5C1E2">
                <a:alpha val="100000"/>
              </a:srgbClr>
            </a:outerShdw>
          </a:effectLst>
        </p:spPr>
      </p:sp>
      <p:sp>
        <p:nvSpPr>
          <p:cNvPr id="14" name="Text 11"/>
          <p:cNvSpPr/>
          <p:nvPr/>
        </p:nvSpPr>
        <p:spPr>
          <a:xfrm>
            <a:off x="794861" y="5035391"/>
            <a:ext cx="2302788" cy="273368"/>
          </a:xfrm>
          <a:prstGeom prst="rect">
            <a:avLst/>
          </a:prstGeom>
          <a:noFill/>
          <a:ln/>
        </p:spPr>
        <p:txBody>
          <a:bodyPr wrap="none" lIns="0" tIns="0" rIns="0" bIns="0" rtlCol="0" anchor="t"/>
          <a:lstStyle/>
          <a:p>
            <a:pPr marL="0" indent="0" algn="l">
              <a:lnSpc>
                <a:spcPts val="2150"/>
              </a:lnSpc>
              <a:buNone/>
            </a:pPr>
            <a:r>
              <a:rPr lang="en-US" sz="1700" dirty="0">
                <a:solidFill>
                  <a:srgbClr val="000000"/>
                </a:solidFill>
                <a:latin typeface="Outfit Medium" pitchFamily="34" charset="0"/>
                <a:ea typeface="Outfit Medium" pitchFamily="34" charset="-122"/>
                <a:cs typeface="Outfit Medium" pitchFamily="34" charset="-120"/>
              </a:rPr>
              <a:t>Reduced Breach Impact</a:t>
            </a:r>
            <a:endParaRPr lang="en-US" sz="1700" dirty="0"/>
          </a:p>
        </p:txBody>
      </p:sp>
      <p:sp>
        <p:nvSpPr>
          <p:cNvPr id="15" name="Text 12"/>
          <p:cNvSpPr/>
          <p:nvPr/>
        </p:nvSpPr>
        <p:spPr>
          <a:xfrm>
            <a:off x="794861" y="5389721"/>
            <a:ext cx="7554278" cy="248007"/>
          </a:xfrm>
          <a:prstGeom prst="rect">
            <a:avLst/>
          </a:prstGeom>
          <a:noFill/>
          <a:ln/>
        </p:spPr>
        <p:txBody>
          <a:bodyPr wrap="none" lIns="0" tIns="0" rIns="0" bIns="0" rtlCol="0" anchor="t"/>
          <a:lstStyle/>
          <a:p>
            <a:pPr marL="0" indent="0" algn="l">
              <a:lnSpc>
                <a:spcPts val="1950"/>
              </a:lnSpc>
              <a:buNone/>
            </a:pPr>
            <a:r>
              <a:rPr lang="en-US" sz="1350" dirty="0">
                <a:solidFill>
                  <a:srgbClr val="000000"/>
                </a:solidFill>
                <a:latin typeface="IBM Plex Sans" pitchFamily="34" charset="0"/>
                <a:ea typeface="IBM Plex Sans" pitchFamily="34" charset="-122"/>
                <a:cs typeface="IBM Plex Sans" pitchFamily="34" charset="-120"/>
              </a:rPr>
              <a:t>Contain threats in seconds instead of hours</a:t>
            </a:r>
            <a:endParaRPr lang="en-US" sz="1350" dirty="0"/>
          </a:p>
        </p:txBody>
      </p:sp>
      <p:sp>
        <p:nvSpPr>
          <p:cNvPr id="16" name="Text 13"/>
          <p:cNvSpPr/>
          <p:nvPr/>
        </p:nvSpPr>
        <p:spPr>
          <a:xfrm>
            <a:off x="874752" y="6174462"/>
            <a:ext cx="7656909" cy="656034"/>
          </a:xfrm>
          <a:prstGeom prst="rect">
            <a:avLst/>
          </a:prstGeom>
          <a:noFill/>
          <a:ln/>
        </p:spPr>
        <p:txBody>
          <a:bodyPr wrap="square" lIns="0" tIns="0" rIns="0" bIns="0" rtlCol="0" anchor="t"/>
          <a:lstStyle/>
          <a:p>
            <a:pPr marL="0" indent="0" algn="l">
              <a:lnSpc>
                <a:spcPts val="2550"/>
              </a:lnSpc>
              <a:buNone/>
            </a:pPr>
            <a:r>
              <a:rPr lang="en-US" sz="2050" dirty="0">
                <a:solidFill>
                  <a:srgbClr val="A2B9F9"/>
                </a:solidFill>
                <a:latin typeface="Outfit Medium" pitchFamily="34" charset="0"/>
                <a:ea typeface="Outfit Medium" pitchFamily="34" charset="-122"/>
                <a:cs typeface="Outfit Medium" pitchFamily="34" charset="-120"/>
              </a:rPr>
              <a:t>ZeroTrace AI transforms cybersecurity from reactive defense to proactive intelligence.</a:t>
            </a:r>
            <a:endParaRPr lang="en-US" sz="2050" dirty="0"/>
          </a:p>
        </p:txBody>
      </p:sp>
      <p:sp>
        <p:nvSpPr>
          <p:cNvPr id="17" name="Shape 14"/>
          <p:cNvSpPr/>
          <p:nvPr/>
        </p:nvSpPr>
        <p:spPr>
          <a:xfrm>
            <a:off x="612338" y="5972056"/>
            <a:ext cx="22860" cy="1060847"/>
          </a:xfrm>
          <a:prstGeom prst="rect">
            <a:avLst/>
          </a:prstGeom>
          <a:solidFill>
            <a:srgbClr val="A2B9F9"/>
          </a:solidFill>
          <a:ln/>
        </p:spPr>
      </p:sp>
      <p:sp>
        <p:nvSpPr>
          <p:cNvPr id="18" name="Text 15"/>
          <p:cNvSpPr/>
          <p:nvPr/>
        </p:nvSpPr>
        <p:spPr>
          <a:xfrm>
            <a:off x="612338" y="7184708"/>
            <a:ext cx="7919323" cy="248007"/>
          </a:xfrm>
          <a:prstGeom prst="rect">
            <a:avLst/>
          </a:prstGeom>
          <a:noFill/>
          <a:ln/>
        </p:spPr>
        <p:txBody>
          <a:bodyPr wrap="none" lIns="0" tIns="0" rIns="0" bIns="0" rtlCol="0" anchor="t"/>
          <a:lstStyle/>
          <a:p>
            <a:pPr marL="0" indent="0" algn="l">
              <a:lnSpc>
                <a:spcPts val="1950"/>
              </a:lnSpc>
              <a:buNone/>
            </a:pPr>
            <a:r>
              <a:rPr lang="en-US" sz="1350" b="1" dirty="0">
                <a:solidFill>
                  <a:srgbClr val="666666"/>
                </a:solidFill>
                <a:latin typeface="IBM Plex Sans" pitchFamily="34" charset="0"/>
                <a:ea typeface="IBM Plex Sans" pitchFamily="34" charset="-122"/>
                <a:cs typeface="IBM Plex Sans" pitchFamily="34" charset="-120"/>
              </a:rPr>
              <a:t>Thank You</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Custom</PresentationFormat>
  <Paragraphs>126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IBM Plex Sans</vt:lpstr>
      <vt:lpstr>Arial</vt:lpstr>
      <vt:lpstr>Outfit Light</vt:lpstr>
      <vt:lpstr>Outfit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Nitin Raj</cp:lastModifiedBy>
  <cp:revision>2</cp:revision>
  <dcterms:created xsi:type="dcterms:W3CDTF">2026-03-13T23:31:07Z</dcterms:created>
  <dcterms:modified xsi:type="dcterms:W3CDTF">2026-03-13T23:32:17Z</dcterms:modified>
</cp:coreProperties>
</file>